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67" r:id="rId1"/>
    <p:sldMasterId id="2147483669" r:id="rId2"/>
    <p:sldMasterId id="2147483680" r:id="rId3"/>
    <p:sldMasterId id="2147483686" r:id="rId4"/>
  </p:sldMasterIdLst>
  <p:notesMasterIdLst>
    <p:notesMasterId r:id="rId48"/>
  </p:notesMasterIdLst>
  <p:handoutMasterIdLst>
    <p:handoutMasterId r:id="rId49"/>
  </p:handoutMasterIdLst>
  <p:sldIdLst>
    <p:sldId id="455" r:id="rId5"/>
    <p:sldId id="259" r:id="rId6"/>
    <p:sldId id="430" r:id="rId7"/>
    <p:sldId id="374" r:id="rId8"/>
    <p:sldId id="402" r:id="rId9"/>
    <p:sldId id="403" r:id="rId10"/>
    <p:sldId id="437" r:id="rId11"/>
    <p:sldId id="459" r:id="rId12"/>
    <p:sldId id="471" r:id="rId13"/>
    <p:sldId id="438" r:id="rId14"/>
    <p:sldId id="472" r:id="rId15"/>
    <p:sldId id="442" r:id="rId16"/>
    <p:sldId id="476" r:id="rId17"/>
    <p:sldId id="478" r:id="rId18"/>
    <p:sldId id="475" r:id="rId19"/>
    <p:sldId id="450" r:id="rId20"/>
    <p:sldId id="452" r:id="rId21"/>
    <p:sldId id="453" r:id="rId22"/>
    <p:sldId id="454" r:id="rId23"/>
    <p:sldId id="461" r:id="rId24"/>
    <p:sldId id="467" r:id="rId25"/>
    <p:sldId id="468" r:id="rId26"/>
    <p:sldId id="479" r:id="rId27"/>
    <p:sldId id="458" r:id="rId28"/>
    <p:sldId id="480" r:id="rId29"/>
    <p:sldId id="484" r:id="rId30"/>
    <p:sldId id="481" r:id="rId31"/>
    <p:sldId id="482" r:id="rId32"/>
    <p:sldId id="485" r:id="rId33"/>
    <p:sldId id="508" r:id="rId34"/>
    <p:sldId id="409" r:id="rId35"/>
    <p:sldId id="517" r:id="rId36"/>
    <p:sldId id="509" r:id="rId37"/>
    <p:sldId id="516" r:id="rId38"/>
    <p:sldId id="510" r:id="rId39"/>
    <p:sldId id="512" r:id="rId40"/>
    <p:sldId id="470" r:id="rId41"/>
    <p:sldId id="507" r:id="rId42"/>
    <p:sldId id="441" r:id="rId43"/>
    <p:sldId id="325" r:id="rId44"/>
    <p:sldId id="440" r:id="rId45"/>
    <p:sldId id="326" r:id="rId46"/>
    <p:sldId id="316" r:id="rId47"/>
  </p:sldIdLst>
  <p:sldSz cx="12192000" cy="6858000"/>
  <p:notesSz cx="6797675" cy="9926638"/>
  <p:embeddedFontLst>
    <p:embeddedFont>
      <p:font typeface="Consolas" panose="020B0609020204030204" pitchFamily="49" charset="0"/>
      <p:regular r:id="rId50"/>
      <p:bold r:id="rId51"/>
      <p:italic r:id="rId52"/>
      <p:boldItalic r:id="rId53"/>
    </p:embeddedFont>
    <p:embeddedFont>
      <p:font typeface="Huawei Sans" panose="020C0503030203020204" pitchFamily="34" charset="0"/>
      <p:regular r:id="rId54"/>
      <p:bold r:id="rId55"/>
    </p:embeddedFont>
    <p:embeddedFont>
      <p:font typeface="方正兰亭黑简体" panose="02000000000000000000" pitchFamily="2" charset="-122"/>
      <p:regular r:id="rId56"/>
    </p:embeddedFont>
    <p:embeddedFont>
      <p:font typeface="微软雅黑" panose="020B0503020204020204" pitchFamily="34" charset="-122"/>
      <p:regular r:id="rId57"/>
      <p:bold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uailujun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00B"/>
    <a:srgbClr val="151515"/>
    <a:srgbClr val="99CCCC"/>
    <a:srgbClr val="575756"/>
    <a:srgbClr val="FFFFFF"/>
    <a:srgbClr val="DD4654"/>
    <a:srgbClr val="F3D2D5"/>
    <a:srgbClr val="E6A8AD"/>
    <a:srgbClr val="E57B84"/>
    <a:srgbClr val="E579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3" autoAdjust="0"/>
    <p:restoredTop sz="94321" autoAdjust="0"/>
  </p:normalViewPr>
  <p:slideViewPr>
    <p:cSldViewPr snapToGrid="0" snapToObjects="1">
      <p:cViewPr varScale="1">
        <p:scale>
          <a:sx n="67" d="100"/>
          <a:sy n="67" d="100"/>
        </p:scale>
        <p:origin x="17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5" d="100"/>
          <a:sy n="45" d="100"/>
        </p:scale>
        <p:origin x="1832" y="56"/>
      </p:cViewPr>
      <p:guideLst>
        <p:guide orient="horz"/>
        <p:guide pos="2141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8" Type="http://schemas.openxmlformats.org/officeDocument/2006/relationships/slide" Target="slides/slide4.xml"/><Relationship Id="rId51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5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3.fntdata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4/22/2026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62880" y="766800"/>
            <a:ext cx="5932800" cy="33377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t" anchorCtr="0"/>
          <a:lstStyle/>
          <a:p>
            <a:endParaRPr lang="en-US"/>
          </a:p>
        </p:txBody>
      </p:sp>
      <p:sp>
        <p:nvSpPr>
          <p:cNvPr id="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791" tIns="48396" rIns="96791" bIns="48396" numCol="1" anchor="t" anchorCtr="0" compatLnSpc="1"/>
          <a:lstStyle/>
          <a:p>
            <a:pPr marL="180975" lvl="0" indent="-180975" fontAlgn="base">
              <a:spcBef>
                <a:spcPct val="0"/>
              </a:spcBef>
              <a:buSzPct val="70000"/>
              <a:buFont typeface="Wingdings" panose="05000000000000000000" pitchFamily="2" charset="2"/>
              <a:buChar char="l"/>
            </a:pPr>
            <a:r>
              <a:rPr lang="en-US" dirty="0"/>
              <a:t>Edit Master text styles</a:t>
            </a:r>
          </a:p>
          <a:p>
            <a:pPr marL="541655" lvl="1" indent="-180975" fontAlgn="base">
              <a:spcBef>
                <a:spcPct val="0"/>
              </a:spcBef>
              <a:buSzPct val="60000"/>
              <a:buFont typeface="Wingdings" panose="05000000000000000000" pitchFamily="2" charset="2"/>
              <a:buChar char="p"/>
            </a:pPr>
            <a:r>
              <a:rPr lang="en-US" dirty="0"/>
              <a:t>Second level</a:t>
            </a:r>
          </a:p>
          <a:p>
            <a:pPr marL="895350" lvl="2" indent="-174625" fontAlgn="base">
              <a:spcBef>
                <a:spcPct val="0"/>
              </a:spcBef>
              <a:buSzPct val="50000"/>
              <a:buFont typeface="Wingdings" panose="05000000000000000000" pitchFamily="2" charset="2"/>
              <a:buChar char="n"/>
            </a:pPr>
            <a:r>
              <a:rPr lang="en-US" dirty="0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79705" indent="-179705" algn="l" defTabSz="1219200" rtl="0" eaLnBrk="1" fontAlgn="ctr" latinLnBrk="0" hangingPunct="1">
      <a:lnSpc>
        <a:spcPct val="125000"/>
      </a:lnSpc>
      <a:spcAft>
        <a:spcPts val="600"/>
      </a:spcAft>
      <a:buClr>
        <a:schemeClr val="bg1">
          <a:lumMod val="50000"/>
        </a:schemeClr>
      </a:buClr>
      <a:buSzPct val="60000"/>
      <a:buFont typeface="Huawei Sans" panose="020C0503030203020204" pitchFamily="34" charset="0"/>
      <a:buChar char="•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39750" indent="-179705" algn="l" defTabSz="1219200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899795" indent="-179705" algn="l" defTabSz="1219200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371600" indent="0" algn="l" defTabSz="1219200" rtl="0" eaLnBrk="1" fontAlgn="base" latinLnBrk="0" hangingPunct="1">
      <a:lnSpc>
        <a:spcPct val="125000"/>
      </a:lnSpc>
      <a:spcBef>
        <a:spcPct val="0"/>
      </a:spcBef>
      <a:spcAft>
        <a:spcPts val="600"/>
      </a:spcAft>
      <a:buFont typeface="Wingdings" panose="05000000000000000000" pitchFamily="2" charset="2"/>
      <a:buNone/>
      <a:defRPr lang="en-US" sz="1100" kern="1200" baseline="0" dirty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619885" indent="-179705" algn="l" defTabSz="1219200" rtl="0" eaLnBrk="1" fontAlgn="base" latinLnBrk="0" hangingPunct="1">
      <a:lnSpc>
        <a:spcPct val="125000"/>
      </a:lnSpc>
      <a:spcBef>
        <a:spcPct val="0"/>
      </a:spcBef>
      <a:spcAft>
        <a:spcPts val="600"/>
      </a:spcAft>
      <a:buFont typeface="Wingdings" panose="05000000000000000000" pitchFamily="2" charset="2"/>
      <a:buChar char="~"/>
      <a:defRPr lang="en-US" sz="1100" kern="1200" baseline="0" dirty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5600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47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10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1362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需求澄清</a:t>
            </a:r>
          </a:p>
        </p:txBody>
      </p:sp>
    </p:spTree>
    <p:extLst>
      <p:ext uri="{BB962C8B-B14F-4D97-AF65-F5344CB8AC3E}">
        <p14:creationId xmlns:p14="http://schemas.microsoft.com/office/powerpoint/2010/main" val="1157629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zh-CN" alt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上述代码存在问题：</a:t>
            </a:r>
          </a:p>
          <a:p>
            <a:pPr marL="0" indent="0">
              <a:buFontTx/>
              <a:buNone/>
            </a:pP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zh-CN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 按实验</a:t>
            </a:r>
            <a:r>
              <a:rPr lang="en-US" altLang="zh-CN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开发者要求以最简单方式实现需求会导致圈复杂度急剧膨胀：</a:t>
            </a:r>
            <a:endParaRPr lang="zh-CN" alt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 需要增加一层加速状态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zh-CN" b="0" dirty="0" err="1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is_reverse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zh-CN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下的条件嵌套</a:t>
            </a:r>
            <a:endParaRPr lang="zh-CN" alt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 需要增加一个分支处理倒车指令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zh-CN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`</a:t>
            </a:r>
            <a:endParaRPr lang="zh-CN" alt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zh-CN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 前进</a:t>
            </a:r>
            <a:r>
              <a:rPr lang="en-US" altLang="zh-CN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格和后退</a:t>
            </a:r>
            <a:r>
              <a:rPr lang="en-US" altLang="zh-CN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格这</a:t>
            </a:r>
            <a:r>
              <a:rPr lang="en-US" altLang="zh-CN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zh-CN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个操作存在重复代码</a:t>
            </a:r>
            <a:endParaRPr lang="zh-CN" alt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CN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</a:rPr>
              <a:t>代码就更复杂了，需求的迭代，对代码的扩展性提出了强烈的诉求</a:t>
            </a:r>
            <a:endParaRPr lang="en-US" altLang="zh-CN" dirty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dirty="0">
              <a:latin typeface="+mn-ea"/>
              <a:ea typeface="+mn-ea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代码圈复杂度（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Cyclomatic Complexity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）是用来衡量代码复杂性的一种指标。简单来说，它表示代码中有多少条不同的执行路径。路径越多，代码就越复杂。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想象一下，你在一个迷宫里，每次遇到一个岔路口（比如 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if 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语句或 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for 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循环），你就有了一个新的选择。代码圈复杂度就是计算这些岔路口的数量。数值越高，说明迷宫越复杂，走出去的难度也越大。</a:t>
            </a:r>
          </a:p>
          <a:p>
            <a:pPr marL="0" indent="0" algn="l">
              <a:buNone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为什么重要？</a:t>
            </a:r>
            <a:endParaRPr lang="zh-CN" altLang="en-US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可维护性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：复杂的代码更难理解和修改。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测试难度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：复杂的代码需要更多的测试用例来覆盖所有可能的路径。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错误风险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：复杂的代码更容易出错。</a:t>
            </a:r>
          </a:p>
          <a:p>
            <a:pPr marL="0" indent="0">
              <a:buNone/>
            </a:pPr>
            <a:endParaRPr lang="zh-CN" altLang="en-US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1937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0223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200" dirty="0">
                <a:latin typeface="+mn-ea"/>
              </a:rPr>
              <a:t>Executor</a:t>
            </a:r>
            <a:r>
              <a:rPr lang="zh-CN" altLang="en-US" sz="1200" dirty="0">
                <a:latin typeface="+mn-ea"/>
              </a:rPr>
              <a:t>组件对外提供</a:t>
            </a:r>
            <a:r>
              <a:rPr lang="en-US" altLang="zh-CN" sz="1200" dirty="0">
                <a:latin typeface="+mn-ea"/>
              </a:rPr>
              <a:t>3</a:t>
            </a:r>
            <a:r>
              <a:rPr lang="zh-CN" altLang="en-US" sz="1200" dirty="0">
                <a:latin typeface="+mn-ea"/>
              </a:rPr>
              <a:t>个核心接口：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 err="1">
                <a:latin typeface="+mn-ea"/>
              </a:rPr>
              <a:t>with_pose</a:t>
            </a:r>
            <a:r>
              <a:rPr lang="en-US" altLang="zh-CN" b="1" dirty="0">
                <a:latin typeface="+mn-ea"/>
              </a:rPr>
              <a:t>:</a:t>
            </a:r>
            <a:r>
              <a:rPr lang="zh-CN" altLang="en-US" dirty="0">
                <a:latin typeface="+mn-ea"/>
              </a:rPr>
              <a:t> 初始化</a:t>
            </a:r>
            <a:r>
              <a:rPr lang="en-US" altLang="zh-CN" dirty="0">
                <a:latin typeface="+mn-ea"/>
              </a:rPr>
              <a:t>Executor</a:t>
            </a:r>
            <a:endParaRPr lang="zh-CN" altLang="en-US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+mn-ea"/>
              </a:rPr>
              <a:t>execute:</a:t>
            </a:r>
            <a:r>
              <a:rPr lang="zh-CN" altLang="en-US" dirty="0">
                <a:latin typeface="+mn-ea"/>
              </a:rPr>
              <a:t> 执行指令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+mn-ea"/>
              </a:rPr>
              <a:t>query:</a:t>
            </a:r>
            <a:r>
              <a:rPr lang="zh-CN" altLang="en-US" dirty="0">
                <a:latin typeface="+mn-ea"/>
              </a:rPr>
              <a:t> 查询车辆当前状态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+mn-ea"/>
              </a:rPr>
              <a:t>内部实现逻辑被抽象为一系列</a:t>
            </a:r>
            <a:r>
              <a:rPr lang="zh-CN" altLang="en-US" sz="1200" b="1" dirty="0">
                <a:latin typeface="+mn-ea"/>
              </a:rPr>
              <a:t>动作（</a:t>
            </a:r>
            <a:r>
              <a:rPr lang="en-US" altLang="zh-CN" sz="1200" b="1" dirty="0">
                <a:latin typeface="+mn-ea"/>
              </a:rPr>
              <a:t>action</a:t>
            </a:r>
            <a:r>
              <a:rPr lang="zh-CN" altLang="en-US" sz="1200" b="1" dirty="0">
                <a:latin typeface="+mn-ea"/>
              </a:rPr>
              <a:t>）</a:t>
            </a:r>
            <a:r>
              <a:rPr lang="zh-CN" altLang="en-US" sz="1200" dirty="0">
                <a:latin typeface="+mn-ea"/>
              </a:rPr>
              <a:t>，包括：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+mn-ea"/>
              </a:rPr>
              <a:t>forward:</a:t>
            </a:r>
            <a:r>
              <a:rPr lang="zh-CN" altLang="en-US" dirty="0">
                <a:latin typeface="+mn-ea"/>
              </a:rPr>
              <a:t> 前进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 err="1">
                <a:latin typeface="+mn-ea"/>
              </a:rPr>
              <a:t>turn_left</a:t>
            </a:r>
            <a:r>
              <a:rPr lang="en-US" altLang="zh-CN" b="1" dirty="0">
                <a:latin typeface="+mn-ea"/>
              </a:rPr>
              <a:t>:</a:t>
            </a:r>
            <a:r>
              <a:rPr lang="zh-CN" altLang="en-US" dirty="0">
                <a:latin typeface="+mn-ea"/>
              </a:rPr>
              <a:t> 左转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 err="1">
                <a:latin typeface="+mn-ea"/>
              </a:rPr>
              <a:t>turn_right</a:t>
            </a:r>
            <a:r>
              <a:rPr lang="en-US" altLang="zh-CN" b="1" dirty="0">
                <a:latin typeface="+mn-ea"/>
              </a:rPr>
              <a:t>:</a:t>
            </a:r>
            <a:r>
              <a:rPr lang="zh-CN" altLang="en-US" dirty="0">
                <a:latin typeface="+mn-ea"/>
              </a:rPr>
              <a:t> 右转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</a:rPr>
              <a:t>这样做的优势：</a:t>
            </a:r>
            <a:endParaRPr lang="zh-CN" altLang="en-US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ea"/>
              </a:rPr>
              <a:t>职责分离：</a:t>
            </a:r>
            <a:r>
              <a:rPr lang="zh-CN" altLang="en-US" dirty="0">
                <a:latin typeface="+mn-ea"/>
              </a:rPr>
              <a:t> 清晰地划分了组件的外部接口和内部实现细节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ea"/>
              </a:rPr>
              <a:t>扩展性强：</a:t>
            </a:r>
            <a:r>
              <a:rPr lang="zh-CN" altLang="en-US" dirty="0">
                <a:latin typeface="+mn-ea"/>
              </a:rPr>
              <a:t> 可以方便地添加新的动作，而无需修改核心接口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ea"/>
              </a:rPr>
              <a:t>可读性高：</a:t>
            </a:r>
            <a:r>
              <a:rPr lang="zh-CN" altLang="en-US" dirty="0">
                <a:latin typeface="+mn-ea"/>
              </a:rPr>
              <a:t> 提高了代码的可读性和维护性</a:t>
            </a:r>
          </a:p>
        </p:txBody>
      </p:sp>
    </p:spTree>
    <p:extLst>
      <p:ext uri="{BB962C8B-B14F-4D97-AF65-F5344CB8AC3E}">
        <p14:creationId xmlns:p14="http://schemas.microsoft.com/office/powerpoint/2010/main" val="2638531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我们将通过面向对象的编程方法，来减少代码的圈复杂度并提升其扩展性。</a:t>
            </a:r>
            <a:endParaRPr lang="en-US" altLang="zh-CN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</a:rPr>
              <a:t>注意新提取方法的可见性，利用默认不可见实现最大化隐藏内部实现。</a:t>
            </a:r>
          </a:p>
        </p:txBody>
      </p:sp>
    </p:spTree>
    <p:extLst>
      <p:ext uri="{BB962C8B-B14F-4D97-AF65-F5344CB8AC3E}">
        <p14:creationId xmlns:p14="http://schemas.microsoft.com/office/powerpoint/2010/main" val="2109146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这里需要注意：搬移到</a:t>
            </a:r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Pose</a:t>
            </a: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的三个方法的可见性设置为</a:t>
            </a:r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pub(crate)</a:t>
            </a: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，区分</a:t>
            </a:r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crate</a:t>
            </a: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内外可见性，实现最大化隐藏。</a:t>
            </a:r>
          </a:p>
          <a:p>
            <a:pPr marL="0" indent="0">
              <a:buNone/>
            </a:pPr>
            <a:endParaRPr lang="en-US" altLang="zh-CN" dirty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</a:rPr>
              <a:t>将数据和操作数据的算法封装在一起，确保</a:t>
            </a:r>
            <a:r>
              <a:rPr lang="zh-CN" altLang="en-US" dirty="0"/>
              <a:t>最大化区域内的交互、最小化区域间的交互。降低对象间耦合，提升代码内聚性。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8464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`Executor`</a:t>
            </a:r>
            <a:r>
              <a:rPr lang="zh-CN" altLang="en-US" dirty="0"/>
              <a:t>与依赖数据类型</a:t>
            </a:r>
            <a:r>
              <a:rPr lang="en-US" altLang="zh-CN" dirty="0"/>
              <a:t>`Pose`</a:t>
            </a:r>
            <a:r>
              <a:rPr lang="zh-CN" altLang="en-US" dirty="0"/>
              <a:t>未实现物理解耦，可读性不好</a:t>
            </a:r>
          </a:p>
          <a:p>
            <a:pPr marL="0" indent="0">
              <a:buNone/>
            </a:pPr>
            <a:r>
              <a:rPr lang="zh-CN" altLang="en-US" dirty="0"/>
              <a:t>新提取的操作与操作的数据未封装在一起，可维护性不好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1412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100" dirty="0">
                <a:solidFill>
                  <a:srgbClr val="111111"/>
                </a:solidFill>
                <a:latin typeface="+mn-ea"/>
              </a:rPr>
              <a:t>reverse</a:t>
            </a:r>
            <a:r>
              <a:rPr lang="zh-CN" altLang="en-US" sz="1100" dirty="0">
                <a:solidFill>
                  <a:srgbClr val="111111"/>
                </a:solidFill>
                <a:latin typeface="+mn-ea"/>
              </a:rPr>
              <a:t>逻辑与其数据一起封装在</a:t>
            </a:r>
            <a:r>
              <a:rPr lang="en-US" altLang="zh-CN" sz="1100" dirty="0">
                <a:solidFill>
                  <a:srgbClr val="111111"/>
                </a:solidFill>
                <a:latin typeface="+mn-ea"/>
              </a:rPr>
              <a:t>State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5866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正交分解通常用于二维数据分析。在支持控制指令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MLR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的需求中，正交分解的维度包括指令和方向。现在引入了状态指令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B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，因此数据维度增加到三个。为了对三维数据进行正交分解，需要先降维，将三维数据降为二维后再进行分析。</a:t>
            </a:r>
            <a:endParaRPr lang="en-US" altLang="zh-CN" sz="11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algn="l"/>
            <a:endParaRPr lang="zh-CN" altLang="en-US" sz="11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一种常用的降维方法是将两个维度的数据进行组合。例如，将指令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MLR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和方向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ESWN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组合成一维：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EM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ER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EL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SM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SR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SL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WM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WR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WL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NM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NR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NL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。然后再与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B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状态进行正交分解，这样得到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24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个用例。用例爆炸了。</a:t>
            </a:r>
            <a:endParaRPr lang="en-US" altLang="zh-CN" sz="11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marL="0" indent="0" algn="l">
              <a:buNone/>
            </a:pPr>
            <a:endParaRPr lang="zh-CN" altLang="en-US" sz="11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需要注意的是，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B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指令的影响仅对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MLR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指令的执行产生变化，与车辆当前朝向无关。因此，方向维度可以忽略，只需对控制指令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MLR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和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B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状态进行正交分解即可。</a:t>
            </a:r>
          </a:p>
          <a:p>
            <a:pPr marL="0" indent="0">
              <a:buNone/>
            </a:pP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51003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0939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在使用</a:t>
            </a:r>
            <a:r>
              <a:rPr lang="en-US" altLang="zh-CN" dirty="0"/>
              <a:t>ASSERT_EQ</a:t>
            </a:r>
            <a:r>
              <a:rPr lang="zh-CN" altLang="en-US" dirty="0"/>
              <a:t>判断两个</a:t>
            </a:r>
            <a:r>
              <a:rPr lang="en-US" altLang="zh-CN" dirty="0"/>
              <a:t>Pose</a:t>
            </a:r>
            <a:r>
              <a:rPr lang="zh-CN" altLang="en-US" dirty="0"/>
              <a:t>对象是否相等时，发现没有定义</a:t>
            </a:r>
            <a:r>
              <a:rPr lang="en-US" altLang="zh-CN" dirty="0"/>
              <a:t>==</a:t>
            </a:r>
            <a:r>
              <a:rPr lang="zh-CN" altLang="en-US" dirty="0"/>
              <a:t>操作符</a:t>
            </a:r>
          </a:p>
        </p:txBody>
      </p:sp>
    </p:spTree>
    <p:extLst>
      <p:ext uri="{BB962C8B-B14F-4D97-AF65-F5344CB8AC3E}">
        <p14:creationId xmlns:p14="http://schemas.microsoft.com/office/powerpoint/2010/main" val="8547093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30862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条件选择语句</a:t>
            </a:r>
            <a:r>
              <a:rPr lang="en-US" altLang="zh-CN" dirty="0"/>
              <a:t>if-else</a:t>
            </a:r>
            <a:r>
              <a:rPr lang="zh-CN" altLang="en-US" dirty="0"/>
              <a:t>是一个表达式，所有分支必须返回相同的类型：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'M' =&gt; </a:t>
            </a:r>
            <a:r>
              <a:rPr lang="en-US" altLang="zh-CN" sz="1100" b="1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self.pose.forward</a:t>
            </a: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(if </a:t>
            </a:r>
            <a:r>
              <a:rPr lang="en-US" altLang="zh-CN" sz="1100" b="1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self.state.is_reverse</a:t>
            </a: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{ -1 } else { 1 }),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90729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89182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需求澄清</a:t>
            </a:r>
          </a:p>
        </p:txBody>
      </p:sp>
    </p:spTree>
    <p:extLst>
      <p:ext uri="{BB962C8B-B14F-4D97-AF65-F5344CB8AC3E}">
        <p14:creationId xmlns:p14="http://schemas.microsoft.com/office/powerpoint/2010/main" val="38357066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90053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34370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原子指令在</a:t>
            </a:r>
            <a:r>
              <a:rPr lang="en-US" altLang="zh-CN" dirty="0"/>
              <a:t>rust</a:t>
            </a:r>
            <a:r>
              <a:rPr lang="zh-CN" altLang="en-US" dirty="0"/>
              <a:t>中实现的方式很多，各有优劣，本实践课程使用枚举类型直观定义，同时也帮助同学们理解和掌握。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引入枚举的好处：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实现原子操作的统一存储；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结合模式实现静态分发。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枚举可以标记为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**非详尽的**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，以强制在定义该类型的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`crate`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外部对该枚举进行完整</a:t>
            </a:r>
            <a:r>
              <a:rPr lang="zh-CN" altLang="en-US" sz="1100" b="0" kern="1200" baseline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的模式匹配（必须加通配符分支），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从而能够在不破坏用户兼容性的情况下向枚举添加新的变体。</a:t>
            </a: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通常外部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crate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不需要扩展新类型（变体）的时候优选枚举（增加新变体需要修改枚举类型的定义），变体个数有限，不需要通配符匹配分支。</a:t>
            </a:r>
            <a:endParaRPr lang="en-US" altLang="zh-CN" sz="1100" b="0" i="0" u="none" strike="noStrike" kern="1200" dirty="0">
              <a:solidFill>
                <a:srgbClr val="000000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60504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12596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正交用例多维度降维方法，寻找相关联维度：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B&amp;F</a:t>
            </a:r>
            <a:r>
              <a:rPr lang="zh-CN" altLang="en-US" dirty="0"/>
              <a:t>有</a:t>
            </a:r>
            <a:r>
              <a:rPr lang="en-US" altLang="zh-CN" dirty="0"/>
              <a:t>5</a:t>
            </a:r>
            <a:r>
              <a:rPr lang="zh-CN" altLang="en-US" dirty="0"/>
              <a:t>种不同的状态：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F</a:t>
            </a:r>
            <a:r>
              <a:rPr lang="zh-CN" altLang="en-US" dirty="0"/>
              <a:t>、</a:t>
            </a:r>
            <a:r>
              <a:rPr lang="en-US" altLang="zh-CN" dirty="0"/>
              <a:t>BF</a:t>
            </a:r>
            <a:r>
              <a:rPr lang="zh-CN" altLang="en-US" dirty="0"/>
              <a:t>、</a:t>
            </a:r>
            <a:r>
              <a:rPr lang="en-US" altLang="zh-CN" dirty="0"/>
              <a:t>BB</a:t>
            </a:r>
            <a:r>
              <a:rPr lang="zh-CN" altLang="en-US" dirty="0"/>
              <a:t>、</a:t>
            </a:r>
            <a:r>
              <a:rPr lang="en-US" altLang="zh-CN" dirty="0"/>
              <a:t>FF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对于</a:t>
            </a:r>
            <a:r>
              <a:rPr lang="en-US" altLang="zh-CN" dirty="0"/>
              <a:t>B&amp;F</a:t>
            </a:r>
            <a:r>
              <a:rPr lang="zh-CN" altLang="en-US" dirty="0"/>
              <a:t>状态的影响，只对</a:t>
            </a:r>
            <a:r>
              <a:rPr lang="en-US" altLang="zh-CN" dirty="0"/>
              <a:t>MLR</a:t>
            </a:r>
            <a:r>
              <a:rPr lang="zh-CN" altLang="en-US" dirty="0"/>
              <a:t>指令发生执行变化，与车当前朝向无关。</a:t>
            </a:r>
          </a:p>
        </p:txBody>
      </p:sp>
    </p:spTree>
    <p:extLst>
      <p:ext uri="{BB962C8B-B14F-4D97-AF65-F5344CB8AC3E}">
        <p14:creationId xmlns:p14="http://schemas.microsoft.com/office/powerpoint/2010/main" val="5110748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12080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67441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2325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34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303847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marL="0" marR="0" lvl="0" indent="0" algn="l" defTabSz="1001223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9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998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502996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502996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502996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502996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042" y="549801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8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6170" y="549801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9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3619" y="549801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16775" y="5498016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3011621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36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866668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01223" rtl="0" eaLnBrk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4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kumimoji="0" lang="en-US" altLang="zh-CN" sz="364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151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marR="0" lvl="0" indent="0" algn="l" defTabSz="1001223" rtl="0" eaLnBrk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4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405745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01223" rtl="0" eaLnBrk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4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1385569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具体格式（序号格式需以模板展示）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36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241735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36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17571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36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12718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36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605773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36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3998340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52857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324780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701060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19945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74706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697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marR="0" lvl="0" indent="0" algn="l" defTabSz="1001223" rtl="0" eaLnBrk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4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85053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94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659147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954" y="6270652"/>
            <a:ext cx="1981542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635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48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4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kumimoji="0" lang="en-US" sz="974" b="0" i="0" u="none" strike="noStrike" kern="1200" cap="none" spc="0" normalizeH="0" baseline="0" noProof="0" smtClean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74" b="0" i="0" u="none" strike="noStrike" kern="120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683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9" r:id="rId11"/>
  </p:sldLayoutIdLst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42">
          <p15:clr>
            <a:srgbClr val="F26B43"/>
          </p15:clr>
        </p15:guide>
        <p15:guide id="4" pos="7038">
          <p15:clr>
            <a:srgbClr val="F26B43"/>
          </p15:clr>
        </p15:guide>
        <p15:guide id="5" orient="horz" pos="2341">
          <p15:clr>
            <a:srgbClr val="F26B43"/>
          </p15:clr>
        </p15:guide>
        <p15:guide id="6" orient="horz" pos="3906">
          <p15:clr>
            <a:srgbClr val="F26B43"/>
          </p15:clr>
        </p15:guide>
        <p15:guide id="7" orient="horz" pos="1162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731">
          <p15:clr>
            <a:srgbClr val="F26B43"/>
          </p15:clr>
        </p15:guide>
        <p15:guide id="10" orient="horz" pos="86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4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kumimoji="0" lang="en-US" sz="974" b="0" i="0" u="none" strike="noStrike" kern="1200" cap="none" spc="0" normalizeH="0" baseline="0" noProof="0" smtClean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74" b="0" i="0" u="none" strike="noStrike" kern="120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0075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90" r:id="rId6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19">
          <p15:clr>
            <a:srgbClr val="F26B43"/>
          </p15:clr>
        </p15:guide>
        <p15:guide id="3" orient="horz" pos="278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065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+mn-cs"/>
              </a:rPr>
              <a:t>Copyright©2020 Huawei Technologies Co., Ltd.</a:t>
            </a:r>
            <a:br>
              <a:rPr kumimoji="1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+mn-cs"/>
              </a:rPr>
            </a:br>
            <a:r>
              <a:rPr kumimoji="1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+mn-cs"/>
              </a:rPr>
              <a:t>All Rights Reserved.</a:t>
            </a:r>
            <a:br>
              <a:rPr kumimoji="1" lang="en-US" altLang="zh-CN" sz="779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+mn-cs"/>
              </a:rPr>
            </a:br>
            <a:br>
              <a:rPr kumimoji="1" lang="en-US" altLang="zh-CN" sz="779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+mn-cs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may change the information at any time without notice. </a:t>
            </a:r>
          </a:p>
          <a:p>
            <a:pPr marL="0" marR="0" lvl="0" indent="0" algn="l" defTabSz="914400" rtl="0" eaLnBrk="1" fontAlgn="auto" latinLnBrk="0" hangingPunct="1">
              <a:lnSpc>
                <a:spcPts val="1065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zh-CN" altLang="en-US" sz="779" b="0" i="0" u="none" strike="noStrike" kern="120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Arial" panose="020B0604020202020204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294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intelligent world.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Arial" panose="020B0604020202020204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2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2BBFF-D8F0-4630-B92B-832BFC66FB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Rust</a:t>
            </a:r>
            <a:r>
              <a:rPr lang="zh-CN" altLang="en-US" dirty="0"/>
              <a:t>企业软件开发实践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864B68-573F-4949-901F-7AD9A96DE4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200" dirty="0">
                <a:latin typeface="方正兰亭黑简体" panose="02000000000000000000" pitchFamily="2" charset="-122"/>
              </a:rPr>
              <a:t>实验</a:t>
            </a:r>
            <a:r>
              <a:rPr lang="en-US" altLang="zh-CN" sz="2200" dirty="0">
                <a:latin typeface="方正兰亭黑简体" panose="02000000000000000000" pitchFamily="2" charset="-122"/>
              </a:rPr>
              <a:t>2-</a:t>
            </a:r>
            <a:r>
              <a:rPr lang="zh-CN" altLang="en-US" sz="2200" dirty="0">
                <a:latin typeface="方正兰亭黑简体" panose="02000000000000000000" pitchFamily="2" charset="-122"/>
              </a:rPr>
              <a:t>模块化与任务编排</a:t>
            </a:r>
          </a:p>
        </p:txBody>
      </p:sp>
    </p:spTree>
    <p:extLst>
      <p:ext uri="{BB962C8B-B14F-4D97-AF65-F5344CB8AC3E}">
        <p14:creationId xmlns:p14="http://schemas.microsoft.com/office/powerpoint/2010/main" val="4052328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通过本课程的学习，您将能够：</a:t>
            </a:r>
            <a:endParaRPr lang="en-US" altLang="zh-CN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学习模块化编程的知识，将一个模块分解为多个独立、可重用的子模块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实践</a:t>
            </a: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并提升代码的可扩展性，将复杂问题分解为原子操作，通过任务编排层逐步实现模块化，提升代码可扩展性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掌握</a:t>
            </a: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Rust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编程的最佳实践，建立高质量编程的</a:t>
            </a:r>
            <a:r>
              <a:rPr lang="zh-CN" altLang="en-US" sz="22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意识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，养成良好的开发</a:t>
            </a:r>
            <a:r>
              <a:rPr lang="zh-CN" altLang="en-US" sz="22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习惯。</a:t>
            </a:r>
            <a:endParaRPr lang="en-US" altLang="zh-CN" sz="2200" dirty="0">
              <a:solidFill>
                <a:srgbClr val="C7000B"/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新功能扩展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模块化编程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任务编排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课后作业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502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31837" y="292239"/>
            <a:ext cx="10728325" cy="485982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方正兰亭黑简体" panose="02000000000000000000" pitchFamily="2" charset="-122"/>
                <a:sym typeface="+mn-lt"/>
              </a:rPr>
              <a:t>实验</a:t>
            </a:r>
            <a:r>
              <a:rPr lang="en-US" altLang="zh-CN" dirty="0">
                <a:latin typeface="方正兰亭黑简体" panose="02000000000000000000" pitchFamily="2" charset="-122"/>
                <a:sym typeface="+mn-lt"/>
              </a:rPr>
              <a:t>1</a:t>
            </a:r>
            <a:r>
              <a:rPr lang="zh-CN" altLang="en-US" dirty="0">
                <a:latin typeface="方正兰亭黑简体" panose="02000000000000000000" pitchFamily="2" charset="-122"/>
                <a:sym typeface="+mn-lt"/>
              </a:rPr>
              <a:t>回顾：左转指令测试用例设计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7DE2F7-ECD7-418E-9C37-92A2321A3F4B}"/>
              </a:ext>
            </a:extLst>
          </p:cNvPr>
          <p:cNvSpPr txBox="1"/>
          <p:nvPr/>
        </p:nvSpPr>
        <p:spPr>
          <a:xfrm>
            <a:off x="623761" y="944685"/>
            <a:ext cx="5347861" cy="54476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b="0" dirty="0">
                <a:solidFill>
                  <a:srgbClr val="4B69C6"/>
                </a:solidFill>
                <a:effectLst/>
              </a:rPr>
              <a:t>mod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 err="1">
                <a:solidFill>
                  <a:srgbClr val="7A3E9D"/>
                </a:solidFill>
                <a:effectLst/>
              </a:rPr>
              <a:t>turn_left_tests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use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super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::*;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#[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]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should_return_facing_n_given_command_is_l_and_facing_is_e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0" u="sng" dirty="0" err="1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"L"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!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#[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]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should_return_facing_e_given_command_is_l_and_facing_is_s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0" u="sng" dirty="0" err="1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"L"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!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</a:p>
          <a:p>
            <a:r>
              <a:rPr lang="en-US" altLang="zh-CN" sz="1200" dirty="0">
                <a:solidFill>
                  <a:srgbClr val="777777"/>
                </a:solidFill>
              </a:rPr>
              <a:t>    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A2593E6-9979-4145-B1DE-46F733592672}"/>
              </a:ext>
            </a:extLst>
          </p:cNvPr>
          <p:cNvSpPr txBox="1"/>
          <p:nvPr/>
        </p:nvSpPr>
        <p:spPr>
          <a:xfrm>
            <a:off x="6220379" y="944685"/>
            <a:ext cx="5629884" cy="52629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    #[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]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should_return_facing_s_given_command_is_l_and_facing_is_w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0" u="sng" dirty="0" err="1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"L"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!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#[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]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should_return_facing_w_given_command_is_l_and_facing_is_n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0" u="sng" dirty="0" err="1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"L"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!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</p:txBody>
      </p:sp>
      <p:cxnSp>
        <p:nvCxnSpPr>
          <p:cNvPr id="35" name="直接连接符 74">
            <a:extLst>
              <a:ext uri="{FF2B5EF4-FFF2-40B4-BE49-F238E27FC236}">
                <a16:creationId xmlns:a16="http://schemas.microsoft.com/office/drawing/2014/main" id="{D2CE42A8-7826-4BCF-914B-4A410602CCA4}"/>
              </a:ext>
            </a:extLst>
          </p:cNvPr>
          <p:cNvCxnSpPr>
            <a:cxnSpLocks/>
          </p:cNvCxnSpPr>
          <p:nvPr/>
        </p:nvCxnSpPr>
        <p:spPr bwMode="auto">
          <a:xfrm>
            <a:off x="6096000" y="933450"/>
            <a:ext cx="0" cy="5632311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latin typeface="方正兰亭黑简体" panose="02000000000000000000" pitchFamily="2" charset="-122"/>
                <a:sym typeface="+mn-lt"/>
              </a:rPr>
              <a:t>实验</a:t>
            </a:r>
            <a:r>
              <a:rPr lang="en-US" altLang="zh-CN" dirty="0">
                <a:latin typeface="方正兰亭黑简体" panose="02000000000000000000" pitchFamily="2" charset="-122"/>
                <a:sym typeface="+mn-lt"/>
              </a:rPr>
              <a:t>1</a:t>
            </a:r>
            <a:r>
              <a:rPr lang="zh-CN" altLang="en-US" dirty="0">
                <a:latin typeface="方正兰亭黑简体" panose="02000000000000000000" pitchFamily="2" charset="-122"/>
                <a:sym typeface="+mn-lt"/>
              </a:rPr>
              <a:t>回顾：右转指令测试用例设计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7DE2F7-ECD7-418E-9C37-92A2321A3F4B}"/>
              </a:ext>
            </a:extLst>
          </p:cNvPr>
          <p:cNvSpPr txBox="1"/>
          <p:nvPr/>
        </p:nvSpPr>
        <p:spPr>
          <a:xfrm>
            <a:off x="419888" y="1007384"/>
            <a:ext cx="5492423" cy="52629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b="0" dirty="0">
                <a:solidFill>
                  <a:srgbClr val="4B69C6"/>
                </a:solidFill>
                <a:effectLst/>
              </a:rPr>
              <a:t>mod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 err="1">
                <a:solidFill>
                  <a:srgbClr val="7A3E9D"/>
                </a:solidFill>
                <a:effectLst/>
              </a:rPr>
              <a:t>turn_right_tests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use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super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::*;</a:t>
            </a:r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#[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]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should_return_facing_s_given_command_is_r_and_facing_is_e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0" u="sng" dirty="0" err="1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"R"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!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#[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]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should_return_facing_w_given_command_is_r_and_facing_is_s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0" u="sng" dirty="0" err="1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"R"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!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</a:p>
          <a:p>
            <a:r>
              <a:rPr lang="en-US" altLang="zh-CN" sz="1200" dirty="0">
                <a:solidFill>
                  <a:srgbClr val="777777"/>
                </a:solidFill>
              </a:rPr>
              <a:t>    }</a:t>
            </a:r>
            <a:endParaRPr lang="en-US" altLang="zh-CN" sz="1200" dirty="0">
              <a:solidFill>
                <a:srgbClr val="333333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A2593E6-9979-4145-B1DE-46F733592672}"/>
              </a:ext>
            </a:extLst>
          </p:cNvPr>
          <p:cNvSpPr txBox="1"/>
          <p:nvPr/>
        </p:nvSpPr>
        <p:spPr>
          <a:xfrm>
            <a:off x="6269125" y="1007384"/>
            <a:ext cx="5502985" cy="52629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    #[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]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should_return_facing_n_given_command_is_r_and_facing_is_w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0" u="sng" dirty="0" err="1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"R"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!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#[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]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should_return_facing_e_given_command_is_r_and_facing_is_n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0" u="sng" dirty="0" err="1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"R"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!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</p:txBody>
      </p:sp>
      <p:cxnSp>
        <p:nvCxnSpPr>
          <p:cNvPr id="35" name="直接连接符 74">
            <a:extLst>
              <a:ext uri="{FF2B5EF4-FFF2-40B4-BE49-F238E27FC236}">
                <a16:creationId xmlns:a16="http://schemas.microsoft.com/office/drawing/2014/main" id="{D2CE42A8-7826-4BCF-914B-4A410602CCA4}"/>
              </a:ext>
            </a:extLst>
          </p:cNvPr>
          <p:cNvCxnSpPr>
            <a:cxnSpLocks/>
          </p:cNvCxnSpPr>
          <p:nvPr/>
        </p:nvCxnSpPr>
        <p:spPr bwMode="auto">
          <a:xfrm>
            <a:off x="6090719" y="1007384"/>
            <a:ext cx="0" cy="5657519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362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latin typeface="方正兰亭黑简体" panose="02000000000000000000" pitchFamily="2" charset="-122"/>
                <a:sym typeface="+mn-lt"/>
              </a:rPr>
              <a:t>实验</a:t>
            </a:r>
            <a:r>
              <a:rPr lang="en-US" altLang="zh-CN" dirty="0">
                <a:latin typeface="方正兰亭黑简体" panose="02000000000000000000" pitchFamily="2" charset="-122"/>
                <a:sym typeface="+mn-lt"/>
              </a:rPr>
              <a:t>1</a:t>
            </a:r>
            <a:r>
              <a:rPr lang="zh-CN" altLang="en-US" dirty="0">
                <a:latin typeface="方正兰亭黑简体" panose="02000000000000000000" pitchFamily="2" charset="-122"/>
                <a:sym typeface="+mn-lt"/>
              </a:rPr>
              <a:t>回顾：功能代码实现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7DE2F7-ECD7-418E-9C37-92A2321A3F4B}"/>
              </a:ext>
            </a:extLst>
          </p:cNvPr>
          <p:cNvSpPr txBox="1"/>
          <p:nvPr/>
        </p:nvSpPr>
        <p:spPr>
          <a:xfrm>
            <a:off x="731839" y="1053406"/>
            <a:ext cx="5426684" cy="48320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&amp;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chars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'M'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77777"/>
                </a:solidFill>
                <a:effectLst/>
              </a:rPr>
              <a:t>+=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77777"/>
                </a:solidFill>
                <a:effectLst/>
              </a:rPr>
              <a:t>-=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77777"/>
                </a:solidFill>
                <a:effectLst/>
              </a:rPr>
              <a:t>-=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77777"/>
                </a:solidFill>
                <a:effectLst/>
              </a:rPr>
              <a:t>+=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'L'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84BFCA-FF9F-4FB6-B112-EEA71084A8E4}"/>
              </a:ext>
            </a:extLst>
          </p:cNvPr>
          <p:cNvSpPr txBox="1"/>
          <p:nvPr/>
        </p:nvSpPr>
        <p:spPr>
          <a:xfrm>
            <a:off x="6322646" y="1044366"/>
            <a:ext cx="5251045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'R'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query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6687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新功能扩展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模块化编程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任务编排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课后作业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11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方正兰亭黑简体" panose="02000000000000000000" pitchFamily="2" charset="-122"/>
              </a:rPr>
              <a:t>课程实训需求</a:t>
            </a:r>
            <a:r>
              <a:rPr lang="en-US" altLang="zh-CN" dirty="0">
                <a:latin typeface="方正兰亭黑简体" panose="02000000000000000000" pitchFamily="2" charset="-122"/>
              </a:rPr>
              <a:t>2-1 </a:t>
            </a:r>
            <a:r>
              <a:rPr lang="zh-CN" altLang="en-US" dirty="0">
                <a:latin typeface="方正兰亭黑简体" panose="02000000000000000000" pitchFamily="2" charset="-122"/>
              </a:rPr>
              <a:t>支持倒车指令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731837" y="1086507"/>
            <a:ext cx="10728325" cy="4879975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22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Executor</a:t>
            </a:r>
            <a:r>
              <a:rPr lang="zh-CN" altLang="en-US" sz="22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组件增加执行倒车指令：</a:t>
            </a:r>
            <a:endParaRPr lang="en-US" altLang="zh-CN" sz="2200" b="1" dirty="0">
              <a:latin typeface="方正兰亭黑简体" panose="02000000000000000000" pitchFamily="2" charset="-12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800" b="1" dirty="0">
                <a:latin typeface="方正兰亭黑简体" panose="02000000000000000000" pitchFamily="2" charset="-122"/>
              </a:rPr>
              <a:t>B: </a:t>
            </a:r>
            <a:r>
              <a:rPr lang="zh-CN" altLang="en-US" sz="1800" b="1" dirty="0">
                <a:latin typeface="方正兰亭黑简体" panose="02000000000000000000" pitchFamily="2" charset="-122"/>
              </a:rPr>
              <a:t>倒车指令，接收到该指令，车进入倒车状态，该状态下：</a:t>
            </a:r>
          </a:p>
          <a:p>
            <a:pPr marL="638175" lvl="1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兰亭黑简体" panose="02000000000000000000" pitchFamily="2" charset="-122"/>
              </a:rPr>
              <a:t>M</a:t>
            </a:r>
            <a:r>
              <a:rPr lang="zh-CN" altLang="en-US" sz="1600" dirty="0">
                <a:latin typeface="方正兰亭黑简体" panose="02000000000000000000" pitchFamily="2" charset="-122"/>
              </a:rPr>
              <a:t>：在当前朝向上后退一格，朝向不变。注：比如朝向为</a:t>
            </a:r>
            <a:r>
              <a:rPr lang="en-US" altLang="zh-CN" sz="1600" dirty="0">
                <a:latin typeface="方正兰亭黑简体" panose="02000000000000000000" pitchFamily="2" charset="-122"/>
              </a:rPr>
              <a:t>N</a:t>
            </a:r>
            <a:r>
              <a:rPr lang="zh-CN" altLang="en-US" sz="1600" dirty="0">
                <a:latin typeface="方正兰亭黑简体" panose="02000000000000000000" pitchFamily="2" charset="-122"/>
              </a:rPr>
              <a:t>时收到</a:t>
            </a:r>
            <a:r>
              <a:rPr lang="en-US" altLang="zh-CN" sz="1600" dirty="0">
                <a:latin typeface="方正兰亭黑简体" panose="02000000000000000000" pitchFamily="2" charset="-122"/>
              </a:rPr>
              <a:t>M</a:t>
            </a:r>
            <a:r>
              <a:rPr lang="zh-CN" altLang="en-US" sz="1600" dirty="0">
                <a:latin typeface="方正兰亭黑简体" panose="02000000000000000000" pitchFamily="2" charset="-122"/>
              </a:rPr>
              <a:t>指令，</a:t>
            </a:r>
            <a:r>
              <a:rPr lang="en-US" altLang="zh-CN" sz="1600" dirty="0">
                <a:latin typeface="方正兰亭黑简体" panose="02000000000000000000" pitchFamily="2" charset="-122"/>
              </a:rPr>
              <a:t>y</a:t>
            </a:r>
            <a:r>
              <a:rPr lang="zh-CN" altLang="en-US" sz="1600" dirty="0">
                <a:latin typeface="方正兰亭黑简体" panose="02000000000000000000" pitchFamily="2" charset="-122"/>
              </a:rPr>
              <a:t>坐标减</a:t>
            </a:r>
            <a:r>
              <a:rPr lang="en-US" altLang="zh-CN" sz="1600" dirty="0">
                <a:latin typeface="方正兰亭黑简体" panose="02000000000000000000" pitchFamily="2" charset="-122"/>
              </a:rPr>
              <a:t>1</a:t>
            </a:r>
            <a:r>
              <a:rPr lang="zh-CN" altLang="en-US" sz="1600" dirty="0">
                <a:latin typeface="方正兰亭黑简体" panose="02000000000000000000" pitchFamily="2" charset="-122"/>
              </a:rPr>
              <a:t>，朝向保持</a:t>
            </a:r>
            <a:r>
              <a:rPr lang="en-US" altLang="zh-CN" sz="1600" dirty="0">
                <a:latin typeface="方正兰亭黑简体" panose="02000000000000000000" pitchFamily="2" charset="-122"/>
              </a:rPr>
              <a:t>N</a:t>
            </a:r>
            <a:endParaRPr lang="zh-CN" altLang="en-US" sz="1600" dirty="0">
              <a:latin typeface="方正兰亭黑简体" panose="02000000000000000000" pitchFamily="2" charset="-122"/>
            </a:endParaRPr>
          </a:p>
          <a:p>
            <a:pPr marL="638175" lvl="1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兰亭黑简体" panose="02000000000000000000" pitchFamily="2" charset="-122"/>
              </a:rPr>
              <a:t>L</a:t>
            </a:r>
            <a:r>
              <a:rPr lang="zh-CN" altLang="en-US" sz="1600" dirty="0">
                <a:latin typeface="方正兰亭黑简体" panose="02000000000000000000" pitchFamily="2" charset="-122"/>
              </a:rPr>
              <a:t>：右转</a:t>
            </a:r>
            <a:r>
              <a:rPr lang="en-US" altLang="zh-CN" sz="1600" dirty="0">
                <a:latin typeface="方正兰亭黑简体" panose="02000000000000000000" pitchFamily="2" charset="-122"/>
              </a:rPr>
              <a:t>90</a:t>
            </a:r>
            <a:r>
              <a:rPr lang="zh-CN" altLang="en-US" sz="1600" dirty="0">
                <a:latin typeface="方正兰亭黑简体" panose="02000000000000000000" pitchFamily="2" charset="-122"/>
              </a:rPr>
              <a:t>度，位置不变</a:t>
            </a:r>
          </a:p>
          <a:p>
            <a:pPr marL="638175" lvl="1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兰亭黑简体" panose="02000000000000000000" pitchFamily="2" charset="-122"/>
              </a:rPr>
              <a:t>R</a:t>
            </a:r>
            <a:r>
              <a:rPr lang="zh-CN" altLang="en-US" sz="1600" dirty="0">
                <a:latin typeface="方正兰亭黑简体" panose="02000000000000000000" pitchFamily="2" charset="-122"/>
              </a:rPr>
              <a:t>：左转</a:t>
            </a:r>
            <a:r>
              <a:rPr lang="en-US" altLang="zh-CN" sz="1600" dirty="0">
                <a:latin typeface="方正兰亭黑简体" panose="02000000000000000000" pitchFamily="2" charset="-122"/>
              </a:rPr>
              <a:t>90</a:t>
            </a:r>
            <a:r>
              <a:rPr lang="zh-CN" altLang="en-US" sz="1600" dirty="0">
                <a:latin typeface="方正兰亭黑简体" panose="02000000000000000000" pitchFamily="2" charset="-122"/>
              </a:rPr>
              <a:t>度，位置不变</a:t>
            </a:r>
            <a:endParaRPr lang="en-US" altLang="zh-CN" sz="1600" dirty="0">
              <a:latin typeface="方正兰亭黑简体" panose="02000000000000000000" pitchFamily="2" charset="-122"/>
            </a:endParaRPr>
          </a:p>
          <a:p>
            <a:pPr marL="0" indent="0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1800" b="1" dirty="0">
                <a:latin typeface="方正兰亭黑简体" panose="02000000000000000000" pitchFamily="2" charset="-122"/>
              </a:rPr>
              <a:t>再接收一次</a:t>
            </a:r>
            <a:r>
              <a:rPr lang="en-US" altLang="zh-CN" sz="1800" b="1" dirty="0">
                <a:latin typeface="方正兰亭黑简体" panose="02000000000000000000" pitchFamily="2" charset="-122"/>
              </a:rPr>
              <a:t>B</a:t>
            </a:r>
            <a:r>
              <a:rPr lang="zh-CN" altLang="en-US" sz="1800" b="1" dirty="0">
                <a:latin typeface="方正兰亭黑简体" panose="02000000000000000000" pitchFamily="2" charset="-122"/>
              </a:rPr>
              <a:t>指令，对应的状态取消</a:t>
            </a:r>
          </a:p>
          <a:p>
            <a:pPr marL="638175" lvl="1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sz="1600" dirty="0">
              <a:latin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7270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31838" y="149717"/>
            <a:ext cx="8319154" cy="485982"/>
          </a:xfrm>
        </p:spPr>
        <p:txBody>
          <a:bodyPr>
            <a:normAutofit/>
          </a:bodyPr>
          <a:lstStyle/>
          <a:p>
            <a:r>
              <a:rPr lang="en-US" altLang="zh-CN" dirty="0"/>
              <a:t>B</a:t>
            </a:r>
            <a:r>
              <a:rPr lang="zh-CN" altLang="en-US" dirty="0"/>
              <a:t>指令功能代码实现示例，代码可能如下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E46C28-D871-424B-8312-D87202C4C177}"/>
              </a:ext>
            </a:extLst>
          </p:cNvPr>
          <p:cNvSpPr txBox="1"/>
          <p:nvPr/>
        </p:nvSpPr>
        <p:spPr>
          <a:xfrm>
            <a:off x="649802" y="1090185"/>
            <a:ext cx="5641547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&amp;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chars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M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9C5D27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is_reverse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...</a:t>
            </a:r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 // </a:t>
            </a:r>
            <a:r>
              <a:rPr lang="zh-CN" altLang="en-US" sz="1400" b="0" i="1" dirty="0">
                <a:solidFill>
                  <a:srgbClr val="AAAAAA"/>
                </a:solidFill>
                <a:effectLst/>
              </a:rPr>
              <a:t>后退</a:t>
            </a:r>
            <a:endParaRPr lang="zh-CN" altLang="en-US" sz="14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zh-CN" altLang="en-US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...</a:t>
            </a:r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 // </a:t>
            </a:r>
            <a:r>
              <a:rPr lang="zh-CN" altLang="en-US" sz="1400" b="0" i="1" dirty="0">
                <a:solidFill>
                  <a:srgbClr val="AAAAAA"/>
                </a:solidFill>
                <a:effectLst/>
              </a:rPr>
              <a:t>前进</a:t>
            </a:r>
            <a:endParaRPr lang="zh-CN" altLang="en-US" sz="14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zh-CN" altLang="en-US" sz="14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zh-CN" altLang="en-US" sz="14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9C5D27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is_reverse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...</a:t>
            </a:r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 // </a:t>
            </a:r>
            <a:r>
              <a:rPr lang="zh-CN" altLang="en-US" sz="1400" b="0" i="1" dirty="0">
                <a:solidFill>
                  <a:srgbClr val="AAAAAA"/>
                </a:solidFill>
                <a:effectLst/>
              </a:rPr>
              <a:t>右转</a:t>
            </a:r>
            <a:endParaRPr lang="zh-CN" altLang="en-US" sz="14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zh-CN" altLang="en-US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...</a:t>
            </a:r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 // </a:t>
            </a:r>
            <a:r>
              <a:rPr lang="zh-CN" altLang="en-US" sz="1400" b="0" i="1" dirty="0">
                <a:solidFill>
                  <a:srgbClr val="AAAAAA"/>
                </a:solidFill>
                <a:effectLst/>
              </a:rPr>
              <a:t>左转</a:t>
            </a:r>
            <a:endParaRPr lang="zh-CN" altLang="en-US" sz="14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zh-CN" altLang="en-US" sz="14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zh-CN" altLang="en-US" sz="1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037821-6DBD-49F7-8EBB-4D1D205061F9}"/>
              </a:ext>
            </a:extLst>
          </p:cNvPr>
          <p:cNvSpPr txBox="1"/>
          <p:nvPr/>
        </p:nvSpPr>
        <p:spPr>
          <a:xfrm>
            <a:off x="6523504" y="1090185"/>
            <a:ext cx="5018694" cy="28931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9C5D27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is_reverse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...</a:t>
            </a:r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 // </a:t>
            </a:r>
            <a:r>
              <a:rPr lang="zh-CN" altLang="en-US" sz="1400" b="0" i="1" dirty="0">
                <a:solidFill>
                  <a:srgbClr val="AAAAAA"/>
                </a:solidFill>
                <a:effectLst/>
              </a:rPr>
              <a:t>左转</a:t>
            </a:r>
            <a:endParaRPr lang="zh-CN" altLang="en-US" sz="14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zh-CN" altLang="en-US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...</a:t>
            </a:r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 // </a:t>
            </a:r>
            <a:r>
              <a:rPr lang="zh-CN" altLang="en-US" sz="1400" b="0" i="1" dirty="0">
                <a:solidFill>
                  <a:srgbClr val="AAAAAA"/>
                </a:solidFill>
                <a:effectLst/>
              </a:rPr>
              <a:t>右转</a:t>
            </a:r>
            <a:endParaRPr lang="zh-CN" altLang="en-US" sz="14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14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zh-CN" altLang="en-US" sz="14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zh-CN" altLang="en-US" sz="14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B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9C5D27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is_reverse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!</a:t>
            </a:r>
            <a:r>
              <a:rPr lang="en-US" altLang="zh-CN" sz="1400" b="0" dirty="0" err="1">
                <a:solidFill>
                  <a:srgbClr val="9C5D27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is_reverse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AFCBAB-A826-485B-9BA3-8E28B7E5F7AA}"/>
              </a:ext>
            </a:extLst>
          </p:cNvPr>
          <p:cNvSpPr txBox="1"/>
          <p:nvPr/>
        </p:nvSpPr>
        <p:spPr>
          <a:xfrm>
            <a:off x="6473416" y="4162855"/>
            <a:ext cx="3133060" cy="549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方正兰亭黑简体" panose="02000000000000000000" pitchFamily="2" charset="-122"/>
              </a:rPr>
              <a:t>圈复杂度高，代码重复</a:t>
            </a:r>
            <a:endParaRPr lang="en-US" altLang="zh-CN" sz="2200" dirty="0">
              <a:latin typeface="方正兰亭黑简体" panose="02000000000000000000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ABEFB3-8D3E-4A7F-85B6-2358DB736C72}"/>
              </a:ext>
            </a:extLst>
          </p:cNvPr>
          <p:cNvSpPr txBox="1"/>
          <p:nvPr/>
        </p:nvSpPr>
        <p:spPr>
          <a:xfrm>
            <a:off x="6473416" y="4892256"/>
            <a:ext cx="21595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/>
              <a:t>如何优化代码？</a:t>
            </a:r>
          </a:p>
        </p:txBody>
      </p:sp>
    </p:spTree>
    <p:extLst>
      <p:ext uri="{BB962C8B-B14F-4D97-AF65-F5344CB8AC3E}">
        <p14:creationId xmlns:p14="http://schemas.microsoft.com/office/powerpoint/2010/main" val="321514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新功能扩展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模块化编程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任务编排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课后作业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963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F6F67-AFBA-468F-AB3B-DDC5CD81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04477"/>
            <a:ext cx="10728325" cy="485982"/>
          </a:xfrm>
        </p:spPr>
        <p:txBody>
          <a:bodyPr>
            <a:normAutofit/>
          </a:bodyPr>
          <a:lstStyle/>
          <a:p>
            <a:r>
              <a:rPr lang="zh-CN" altLang="en-US" dirty="0"/>
              <a:t>模块化编程</a:t>
            </a:r>
            <a:r>
              <a:rPr lang="en-US" altLang="zh-CN" dirty="0"/>
              <a:t>-</a:t>
            </a:r>
            <a:r>
              <a:rPr lang="zh-CN" altLang="en-US" dirty="0"/>
              <a:t>代码分析及优化思路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DB5C78-8C69-4C7E-B715-3A23492239E7}"/>
              </a:ext>
            </a:extLst>
          </p:cNvPr>
          <p:cNvSpPr txBox="1"/>
          <p:nvPr/>
        </p:nvSpPr>
        <p:spPr>
          <a:xfrm>
            <a:off x="5284492" y="2162367"/>
            <a:ext cx="6175670" cy="3975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111111"/>
                </a:solidFill>
                <a:latin typeface="+mn-ea"/>
              </a:rPr>
              <a:t>2.</a:t>
            </a:r>
            <a:r>
              <a:rPr lang="zh-CN" altLang="en-US" b="1" dirty="0">
                <a:solidFill>
                  <a:srgbClr val="111111"/>
                </a:solidFill>
                <a:latin typeface="+mn-ea"/>
              </a:rPr>
              <a:t>封装，提高代码的可复用性：</a:t>
            </a:r>
            <a:endParaRPr lang="en-US" altLang="zh-CN" b="1" dirty="0">
              <a:solidFill>
                <a:srgbClr val="11111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11111"/>
                </a:solidFill>
                <a:latin typeface="+mn-ea"/>
              </a:rPr>
              <a:t>forward</a:t>
            </a:r>
            <a:r>
              <a:rPr lang="zh-CN" altLang="en-US" dirty="0">
                <a:solidFill>
                  <a:srgbClr val="111111"/>
                </a:solidFill>
                <a:latin typeface="+mn-ea"/>
              </a:rPr>
              <a:t>、</a:t>
            </a:r>
            <a:r>
              <a:rPr lang="en-US" altLang="zh-CN" dirty="0" err="1">
                <a:solidFill>
                  <a:srgbClr val="111111"/>
                </a:solidFill>
                <a:latin typeface="+mn-ea"/>
              </a:rPr>
              <a:t>turn_left</a:t>
            </a:r>
            <a:r>
              <a:rPr lang="zh-CN" altLang="en-US" dirty="0">
                <a:solidFill>
                  <a:srgbClr val="111111"/>
                </a:solidFill>
                <a:latin typeface="+mn-ea"/>
              </a:rPr>
              <a:t>、</a:t>
            </a:r>
            <a:r>
              <a:rPr lang="en-US" altLang="zh-CN" dirty="0" err="1">
                <a:solidFill>
                  <a:srgbClr val="111111"/>
                </a:solidFill>
                <a:latin typeface="+mn-ea"/>
              </a:rPr>
              <a:t>turn_right</a:t>
            </a:r>
            <a:r>
              <a:rPr lang="zh-CN" altLang="en-US" dirty="0">
                <a:solidFill>
                  <a:srgbClr val="111111"/>
                </a:solidFill>
                <a:latin typeface="+mn-ea"/>
              </a:rPr>
              <a:t>操作，应该与其数据封装在一起：</a:t>
            </a:r>
            <a:endParaRPr lang="en-US" altLang="zh-CN" dirty="0">
              <a:solidFill>
                <a:srgbClr val="11111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111111"/>
                </a:solidFill>
                <a:latin typeface="+mn-ea"/>
              </a:rPr>
              <a:t>提高代码的可维护性：改变内部实现细节而不影响外部调用者</a:t>
            </a:r>
            <a:endParaRPr lang="en-US" altLang="zh-CN" sz="1600" dirty="0">
              <a:solidFill>
                <a:srgbClr val="11111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111111"/>
                </a:solidFill>
                <a:latin typeface="+mn-ea"/>
              </a:rPr>
              <a:t>增强代码的安全性：防止外部代码直接修改内部数据，从而避免潜在的错误</a:t>
            </a:r>
            <a:endParaRPr lang="en-US" altLang="zh-CN" sz="1600" dirty="0">
              <a:solidFill>
                <a:srgbClr val="11111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111111"/>
                </a:solidFill>
                <a:latin typeface="+mn-ea"/>
              </a:rPr>
              <a:t>提高代码的可复用性：将相关的操作和数据封装在一个类中，可以方便地复用</a:t>
            </a:r>
            <a:endParaRPr lang="en-US" altLang="zh-CN" sz="1600" dirty="0">
              <a:solidFill>
                <a:srgbClr val="111111"/>
              </a:solidFill>
              <a:latin typeface="+mn-ea"/>
            </a:endParaRPr>
          </a:p>
          <a:p>
            <a:pPr>
              <a:lnSpc>
                <a:spcPct val="150000"/>
              </a:lnSpc>
              <a:buSzPct val="60000"/>
            </a:pPr>
            <a:r>
              <a:rPr lang="en-US" altLang="zh-CN" dirty="0">
                <a:solidFill>
                  <a:srgbClr val="111111"/>
                </a:solidFill>
                <a:latin typeface="+mn-ea"/>
              </a:rPr>
              <a:t>forward</a:t>
            </a:r>
            <a:r>
              <a:rPr lang="zh-CN" altLang="en-US" dirty="0">
                <a:solidFill>
                  <a:srgbClr val="111111"/>
                </a:solidFill>
                <a:latin typeface="+mn-ea"/>
              </a:rPr>
              <a:t>、</a:t>
            </a:r>
            <a:r>
              <a:rPr lang="en-US" altLang="zh-CN" dirty="0" err="1">
                <a:solidFill>
                  <a:srgbClr val="111111"/>
                </a:solidFill>
                <a:latin typeface="+mn-ea"/>
              </a:rPr>
              <a:t>turn_left</a:t>
            </a:r>
            <a:r>
              <a:rPr lang="zh-CN" altLang="en-US" dirty="0">
                <a:solidFill>
                  <a:srgbClr val="111111"/>
                </a:solidFill>
                <a:latin typeface="+mn-ea"/>
              </a:rPr>
              <a:t>、</a:t>
            </a:r>
            <a:r>
              <a:rPr lang="en-US" altLang="zh-CN" dirty="0" err="1">
                <a:solidFill>
                  <a:srgbClr val="111111"/>
                </a:solidFill>
                <a:latin typeface="+mn-ea"/>
              </a:rPr>
              <a:t>turn_right</a:t>
            </a:r>
            <a:r>
              <a:rPr lang="zh-CN" altLang="en-US" dirty="0">
                <a:solidFill>
                  <a:srgbClr val="111111"/>
                </a:solidFill>
                <a:latin typeface="+mn-ea"/>
              </a:rPr>
              <a:t>操作的数据都是</a:t>
            </a:r>
            <a:r>
              <a:rPr lang="en-US" altLang="zh-CN" dirty="0">
                <a:solidFill>
                  <a:srgbClr val="111111"/>
                </a:solidFill>
                <a:latin typeface="+mn-ea"/>
              </a:rPr>
              <a:t>Pose</a:t>
            </a:r>
            <a:r>
              <a:rPr lang="zh-CN" altLang="en-US" dirty="0">
                <a:solidFill>
                  <a:srgbClr val="111111"/>
                </a:solidFill>
                <a:latin typeface="+mn-ea"/>
              </a:rPr>
              <a:t>，应该将这</a:t>
            </a:r>
            <a:r>
              <a:rPr lang="en-US" altLang="zh-CN" dirty="0">
                <a:solidFill>
                  <a:srgbClr val="111111"/>
                </a:solidFill>
                <a:latin typeface="+mn-ea"/>
              </a:rPr>
              <a:t>3</a:t>
            </a:r>
            <a:r>
              <a:rPr lang="zh-CN" altLang="en-US" dirty="0">
                <a:solidFill>
                  <a:srgbClr val="111111"/>
                </a:solidFill>
                <a:latin typeface="+mn-ea"/>
              </a:rPr>
              <a:t>个方法封装在</a:t>
            </a:r>
            <a:r>
              <a:rPr lang="en-US" altLang="zh-CN" dirty="0">
                <a:solidFill>
                  <a:srgbClr val="111111"/>
                </a:solidFill>
                <a:latin typeface="+mn-ea"/>
              </a:rPr>
              <a:t>Pose</a:t>
            </a:r>
            <a:r>
              <a:rPr lang="zh-CN" altLang="en-US" dirty="0">
                <a:solidFill>
                  <a:srgbClr val="111111"/>
                </a:solidFill>
                <a:latin typeface="+mn-ea"/>
              </a:rPr>
              <a:t>中。</a:t>
            </a:r>
            <a:endParaRPr lang="zh-CN" altLang="en-US" dirty="0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734EA3-C875-423A-895E-287D6BFD0407}"/>
              </a:ext>
            </a:extLst>
          </p:cNvPr>
          <p:cNvSpPr txBox="1"/>
          <p:nvPr/>
        </p:nvSpPr>
        <p:spPr>
          <a:xfrm>
            <a:off x="5284492" y="793610"/>
            <a:ext cx="6175670" cy="1297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+mn-ea"/>
              </a:rPr>
              <a:t>1.</a:t>
            </a:r>
            <a:r>
              <a:rPr lang="zh-CN" altLang="en-US" b="1" dirty="0">
                <a:latin typeface="+mn-ea"/>
              </a:rPr>
              <a:t>指令处理划分：</a:t>
            </a:r>
            <a:endParaRPr lang="en-US" altLang="zh-CN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按照指令处理逻辑的不同，首先将</a:t>
            </a:r>
            <a:r>
              <a:rPr lang="en-US" altLang="zh-CN" dirty="0">
                <a:latin typeface="+mn-ea"/>
              </a:rPr>
              <a:t>M/L/R 3</a:t>
            </a:r>
            <a:r>
              <a:rPr lang="zh-CN" altLang="en-US" dirty="0">
                <a:latin typeface="+mn-ea"/>
              </a:rPr>
              <a:t>个指令处理的逻辑抽取出</a:t>
            </a:r>
            <a:r>
              <a:rPr lang="en-US" altLang="zh-CN" dirty="0">
                <a:latin typeface="+mn-ea"/>
              </a:rPr>
              <a:t>forward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 err="1">
                <a:latin typeface="+mn-ea"/>
              </a:rPr>
              <a:t>turn_left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 err="1">
                <a:latin typeface="+mn-ea"/>
              </a:rPr>
              <a:t>turn_right</a:t>
            </a:r>
            <a:r>
              <a:rPr lang="zh-CN" altLang="en-US" dirty="0">
                <a:latin typeface="+mn-ea"/>
              </a:rPr>
              <a:t>三个方法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C3DCC0E-C8DB-4A08-85CC-B68A86DE993C}"/>
              </a:ext>
            </a:extLst>
          </p:cNvPr>
          <p:cNvSpPr txBox="1"/>
          <p:nvPr/>
        </p:nvSpPr>
        <p:spPr>
          <a:xfrm>
            <a:off x="731837" y="793610"/>
            <a:ext cx="4286389" cy="61247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&amp;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chars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'M'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77777"/>
                </a:solidFill>
                <a:effectLst/>
              </a:rPr>
              <a:t>+=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77777"/>
                </a:solidFill>
                <a:effectLst/>
              </a:rPr>
              <a:t>-=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77777"/>
                </a:solidFill>
                <a:effectLst/>
              </a:rPr>
              <a:t>-=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77777"/>
                </a:solidFill>
                <a:effectLst/>
              </a:rPr>
              <a:t>+=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'L'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'R'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6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1362813" y="1431807"/>
            <a:ext cx="2834049" cy="1506778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7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1354998" y="2985520"/>
            <a:ext cx="2834049" cy="1445803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9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1362813" y="4492938"/>
            <a:ext cx="2834049" cy="1445803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3073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16" grpId="0" animBg="1"/>
      <p:bldP spid="17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663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移动指令行为抽取为</a:t>
            </a:r>
            <a:r>
              <a:rPr lang="en-US" altLang="zh-CN" dirty="0"/>
              <a:t>forward</a:t>
            </a:r>
            <a:r>
              <a:rPr lang="zh-CN" altLang="en-US" dirty="0"/>
              <a:t>方法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310813-2D94-418B-BDF9-DA93201EBEF9}"/>
              </a:ext>
            </a:extLst>
          </p:cNvPr>
          <p:cNvSpPr txBox="1"/>
          <p:nvPr/>
        </p:nvSpPr>
        <p:spPr>
          <a:xfrm>
            <a:off x="592663" y="933450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executor.rs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248DB7-C16C-476B-9A75-7228D58EB4F3}"/>
              </a:ext>
            </a:extLst>
          </p:cNvPr>
          <p:cNvSpPr txBox="1"/>
          <p:nvPr/>
        </p:nvSpPr>
        <p:spPr>
          <a:xfrm>
            <a:off x="592663" y="1346757"/>
            <a:ext cx="6411960" cy="52629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&amp;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chars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'M'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    ...</a:t>
            </a: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777777"/>
                </a:solidFill>
                <a:effectLst/>
              </a:rPr>
              <a:t>+=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777777"/>
                </a:solidFill>
                <a:effectLst/>
              </a:rPr>
              <a:t>-=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777777"/>
                </a:solidFill>
                <a:effectLst/>
              </a:rPr>
              <a:t>-=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777777"/>
                </a:solidFill>
                <a:effectLst/>
              </a:rPr>
              <a:t>+=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A8C5B09-AE1C-43CA-80F7-958854896B0E}"/>
              </a:ext>
            </a:extLst>
          </p:cNvPr>
          <p:cNvSpPr txBox="1"/>
          <p:nvPr/>
        </p:nvSpPr>
        <p:spPr>
          <a:xfrm>
            <a:off x="7133623" y="1369907"/>
            <a:ext cx="41873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/>
              <a:t>编译运行验证后，代码及时入库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69D434-2489-4D5C-A23D-DC3D646AF018}"/>
              </a:ext>
            </a:extLst>
          </p:cNvPr>
          <p:cNvSpPr txBox="1"/>
          <p:nvPr/>
        </p:nvSpPr>
        <p:spPr>
          <a:xfrm>
            <a:off x="7254938" y="1948863"/>
            <a:ext cx="4188092" cy="14251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cargo test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git </a:t>
            </a:r>
            <a:r>
              <a:rPr lang="en-US" altLang="zh-CN" sz="20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add .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git </a:t>
            </a:r>
            <a:r>
              <a:rPr lang="en-US" altLang="zh-CN" sz="20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commit -m ‘extract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forward</a:t>
            </a:r>
            <a:r>
              <a:rPr lang="en-US" altLang="zh-CN" sz="20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636186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2263C-6D84-4EAC-A656-D2298A3A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操作分离：操作封装到</a:t>
            </a:r>
            <a:r>
              <a:rPr lang="en-US" altLang="zh-CN" dirty="0">
                <a:latin typeface="+mj-ea"/>
                <a:ea typeface="+mj-ea"/>
              </a:rPr>
              <a:t>Pose</a:t>
            </a:r>
            <a:endParaRPr lang="zh-CN" altLang="en-US" dirty="0">
              <a:highlight>
                <a:srgbClr val="FFFF00"/>
              </a:highlight>
              <a:latin typeface="+mj-ea"/>
              <a:ea typeface="+mj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95ADD0-6964-4C03-A03C-E6018B161AB4}"/>
              </a:ext>
            </a:extLst>
          </p:cNvPr>
          <p:cNvSpPr txBox="1"/>
          <p:nvPr/>
        </p:nvSpPr>
        <p:spPr>
          <a:xfrm>
            <a:off x="472194" y="1511215"/>
            <a:ext cx="4361124" cy="48320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#[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derive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Debug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Copy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Clone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PartialEq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)]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struct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i32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i32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char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i32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i32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char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Default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default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5B5519-3ED7-4026-8484-0ABDB29DB404}"/>
              </a:ext>
            </a:extLst>
          </p:cNvPr>
          <p:cNvSpPr txBox="1"/>
          <p:nvPr/>
        </p:nvSpPr>
        <p:spPr>
          <a:xfrm>
            <a:off x="4922030" y="1509719"/>
            <a:ext cx="3307595" cy="46166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77777"/>
                </a:solidFill>
                <a:effectLst/>
              </a:rPr>
              <a:t>+=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77777"/>
                </a:solidFill>
                <a:effectLst/>
              </a:rPr>
              <a:t>-=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77777"/>
                </a:solidFill>
                <a:effectLst/>
              </a:rPr>
              <a:t>-=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77777"/>
                </a:solidFill>
                <a:effectLst/>
              </a:rPr>
              <a:t>+=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</a:p>
          <a:p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AA3731"/>
                </a:solidFill>
                <a:effectLst/>
              </a:rPr>
              <a:t>turn_left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4DAB2B-01EF-456D-A939-463DD9BA1D96}"/>
              </a:ext>
            </a:extLst>
          </p:cNvPr>
          <p:cNvSpPr txBox="1"/>
          <p:nvPr/>
        </p:nvSpPr>
        <p:spPr>
          <a:xfrm>
            <a:off x="472194" y="1056259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pose.rs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9A83B8-E0EF-4D4C-81DF-0F1D888C7A0E}"/>
              </a:ext>
            </a:extLst>
          </p:cNvPr>
          <p:cNvSpPr txBox="1"/>
          <p:nvPr/>
        </p:nvSpPr>
        <p:spPr>
          <a:xfrm>
            <a:off x="8318338" y="1540594"/>
            <a:ext cx="3444735" cy="24622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AA3731"/>
                </a:solidFill>
                <a:effectLst/>
              </a:rPr>
              <a:t>turn_right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57730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AD11B-5722-494C-9927-BA1CD34D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操作分离：</a:t>
            </a:r>
            <a:r>
              <a:rPr lang="en-US" altLang="zh-CN" dirty="0">
                <a:latin typeface="+mj-ea"/>
              </a:rPr>
              <a:t> pose</a:t>
            </a:r>
            <a:r>
              <a:rPr lang="zh-CN" altLang="en-US" dirty="0">
                <a:latin typeface="+mj-ea"/>
              </a:rPr>
              <a:t>模块声明</a:t>
            </a:r>
            <a:r>
              <a:rPr lang="en-US" altLang="zh-CN" dirty="0">
                <a:latin typeface="+mj-ea"/>
              </a:rPr>
              <a:t>&amp;</a:t>
            </a:r>
            <a:r>
              <a:rPr lang="en-US" altLang="zh-CN" dirty="0"/>
              <a:t>Executor</a:t>
            </a:r>
            <a:r>
              <a:rPr lang="zh-CN" altLang="en-US" dirty="0"/>
              <a:t>修改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41C82E-59B1-4A19-8E53-70876A7AE545}"/>
              </a:ext>
            </a:extLst>
          </p:cNvPr>
          <p:cNvSpPr txBox="1"/>
          <p:nvPr/>
        </p:nvSpPr>
        <p:spPr>
          <a:xfrm>
            <a:off x="684347" y="2785347"/>
            <a:ext cx="4802054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4B69C6"/>
                </a:solidFill>
                <a:effectLst/>
              </a:rPr>
              <a:t>use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4B69C6"/>
                </a:solidFill>
                <a:effectLst/>
              </a:rPr>
              <a:t>…</a:t>
            </a:r>
          </a:p>
          <a:p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…</a:t>
            </a:r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&amp;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chars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'M'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'L'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u="sng" dirty="0" err="1">
                <a:solidFill>
                  <a:srgbClr val="AA3731"/>
                </a:solidFill>
                <a:effectLst/>
              </a:rPr>
              <a:t>turn_left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'R'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u="sng" dirty="0" err="1">
                <a:solidFill>
                  <a:srgbClr val="AA3731"/>
                </a:solidFill>
                <a:effectLst/>
              </a:rPr>
              <a:t>turn_right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…</a:t>
            </a: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5" name="圆角矩形 13">
            <a:extLst>
              <a:ext uri="{FF2B5EF4-FFF2-40B4-BE49-F238E27FC236}">
                <a16:creationId xmlns:a16="http://schemas.microsoft.com/office/drawing/2014/main" id="{7FE0B1A8-B80C-43FA-A95B-9510631AEC1E}"/>
              </a:ext>
            </a:extLst>
          </p:cNvPr>
          <p:cNvSpPr/>
          <p:nvPr/>
        </p:nvSpPr>
        <p:spPr bwMode="auto">
          <a:xfrm>
            <a:off x="853981" y="3654614"/>
            <a:ext cx="3514156" cy="1651164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43405B-184B-4D79-9241-2EC62AE93C88}"/>
              </a:ext>
            </a:extLst>
          </p:cNvPr>
          <p:cNvSpPr txBox="1"/>
          <p:nvPr/>
        </p:nvSpPr>
        <p:spPr>
          <a:xfrm>
            <a:off x="5725407" y="1378291"/>
            <a:ext cx="5734756" cy="11585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cargo test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git </a:t>
            </a:r>
            <a:r>
              <a:rPr lang="en-US" altLang="zh-CN" sz="16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add .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git </a:t>
            </a:r>
            <a:r>
              <a:rPr lang="en-US" altLang="zh-CN" sz="16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commit -m ‘extract forward/</a:t>
            </a:r>
            <a:r>
              <a:rPr lang="en-US" altLang="zh-CN" sz="1600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turn_left</a:t>
            </a:r>
            <a:r>
              <a:rPr lang="en-US" altLang="zh-CN" sz="16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/</a:t>
            </a:r>
            <a:r>
              <a:rPr lang="en-US" altLang="zh-CN" sz="1600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turn_right</a:t>
            </a:r>
            <a:r>
              <a:rPr lang="en-US" altLang="zh-CN" sz="16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to Pose'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15BB5B-3435-439F-95F7-5D34D6BDCD5C}"/>
              </a:ext>
            </a:extLst>
          </p:cNvPr>
          <p:cNvSpPr txBox="1"/>
          <p:nvPr/>
        </p:nvSpPr>
        <p:spPr>
          <a:xfrm>
            <a:off x="5725407" y="975340"/>
            <a:ext cx="3262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编译运行验证，代码及时提交入库</a:t>
            </a:r>
          </a:p>
        </p:txBody>
      </p:sp>
      <p:sp>
        <p:nvSpPr>
          <p:cNvPr id="8" name="圆角矩形 13">
            <a:extLst>
              <a:ext uri="{FF2B5EF4-FFF2-40B4-BE49-F238E27FC236}">
                <a16:creationId xmlns:a16="http://schemas.microsoft.com/office/drawing/2014/main" id="{201968DE-B39B-42DD-A86C-E584AFA72AB2}"/>
              </a:ext>
            </a:extLst>
          </p:cNvPr>
          <p:cNvSpPr/>
          <p:nvPr/>
        </p:nvSpPr>
        <p:spPr bwMode="auto">
          <a:xfrm>
            <a:off x="731839" y="2183946"/>
            <a:ext cx="2122014" cy="35293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3878C7-F215-4E85-B569-A15053A6154A}"/>
              </a:ext>
            </a:extLst>
          </p:cNvPr>
          <p:cNvSpPr txBox="1"/>
          <p:nvPr/>
        </p:nvSpPr>
        <p:spPr>
          <a:xfrm>
            <a:off x="731839" y="1395501"/>
            <a:ext cx="4754561" cy="11695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4B69C6"/>
                </a:solidFill>
                <a:effectLst/>
              </a:rPr>
              <a:t>mod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4B69C6"/>
                </a:solidFill>
                <a:effectLst/>
              </a:rPr>
              <a:t>mod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use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use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2" name="圆角矩形 13">
            <a:extLst>
              <a:ext uri="{FF2B5EF4-FFF2-40B4-BE49-F238E27FC236}">
                <a16:creationId xmlns:a16="http://schemas.microsoft.com/office/drawing/2014/main" id="{E521D1E2-45E6-4458-A9AB-47593722A4BB}"/>
              </a:ext>
            </a:extLst>
          </p:cNvPr>
          <p:cNvSpPr/>
          <p:nvPr/>
        </p:nvSpPr>
        <p:spPr bwMode="auto">
          <a:xfrm>
            <a:off x="731838" y="1667611"/>
            <a:ext cx="3659539" cy="897441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6F8121-8A37-4D21-8A34-6BDBD1787DD0}"/>
              </a:ext>
            </a:extLst>
          </p:cNvPr>
          <p:cNvSpPr txBox="1"/>
          <p:nvPr/>
        </p:nvSpPr>
        <p:spPr>
          <a:xfrm>
            <a:off x="684346" y="944562"/>
            <a:ext cx="90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lib.rs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4615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33101-FA19-4179-AFAE-A198017E4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操作分离到</a:t>
            </a:r>
            <a:r>
              <a:rPr lang="en-US" altLang="zh-CN" dirty="0"/>
              <a:t>Pose</a:t>
            </a:r>
            <a:r>
              <a:rPr lang="zh-CN" altLang="en-US" dirty="0"/>
              <a:t>后，</a:t>
            </a:r>
            <a:r>
              <a:rPr lang="en-US" altLang="zh-CN" dirty="0"/>
              <a:t>B</a:t>
            </a:r>
            <a:r>
              <a:rPr lang="zh-CN" altLang="en-US" dirty="0"/>
              <a:t>指令的实现步骤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C710CB-B08F-442C-A64F-3B4F14A6B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dirty="0"/>
              <a:t>设计</a:t>
            </a:r>
            <a:r>
              <a:rPr lang="en-US" altLang="zh-CN" dirty="0"/>
              <a:t>B</a:t>
            </a:r>
            <a:r>
              <a:rPr lang="zh-CN" altLang="en-US" dirty="0"/>
              <a:t>指令的测试用例，确保需求实现的完整性；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dirty="0"/>
              <a:t>添加</a:t>
            </a:r>
            <a:r>
              <a:rPr lang="en-US" altLang="zh-CN" dirty="0"/>
              <a:t>State</a:t>
            </a:r>
            <a:r>
              <a:rPr lang="zh-CN" altLang="en-US" dirty="0"/>
              <a:t>实现</a:t>
            </a:r>
            <a:r>
              <a:rPr lang="en-US" altLang="zh-CN" dirty="0"/>
              <a:t>reverse</a:t>
            </a:r>
            <a:r>
              <a:rPr lang="zh-CN" altLang="en-US" dirty="0"/>
              <a:t>逻辑；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altLang="zh-CN" dirty="0"/>
              <a:t>Executor</a:t>
            </a:r>
            <a:r>
              <a:rPr lang="zh-CN" altLang="en-US" dirty="0"/>
              <a:t>中添加</a:t>
            </a:r>
            <a:r>
              <a:rPr lang="en-US" altLang="zh-CN" dirty="0"/>
              <a:t>State</a:t>
            </a:r>
            <a:r>
              <a:rPr lang="zh-CN" altLang="en-US" dirty="0"/>
              <a:t>对象，实现</a:t>
            </a:r>
            <a:r>
              <a:rPr lang="en-US" altLang="zh-CN" dirty="0"/>
              <a:t>B</a:t>
            </a:r>
            <a:r>
              <a:rPr lang="zh-CN" altLang="en-US" dirty="0"/>
              <a:t>指令状态保存功能；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dirty="0"/>
              <a:t>确保</a:t>
            </a:r>
            <a:r>
              <a:rPr lang="en-US" altLang="zh-CN" dirty="0"/>
              <a:t>M</a:t>
            </a:r>
            <a:r>
              <a:rPr lang="zh-CN" altLang="en-US" dirty="0"/>
              <a:t>、</a:t>
            </a:r>
            <a:r>
              <a:rPr lang="en-US" altLang="zh-CN" dirty="0"/>
              <a:t>L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支持</a:t>
            </a:r>
            <a:r>
              <a:rPr lang="en-US" altLang="zh-CN" dirty="0"/>
              <a:t>B</a:t>
            </a:r>
            <a:r>
              <a:rPr lang="zh-CN" altLang="en-US" dirty="0"/>
              <a:t>指令状态。</a:t>
            </a:r>
          </a:p>
        </p:txBody>
      </p:sp>
    </p:spTree>
    <p:extLst>
      <p:ext uri="{BB962C8B-B14F-4D97-AF65-F5344CB8AC3E}">
        <p14:creationId xmlns:p14="http://schemas.microsoft.com/office/powerpoint/2010/main" val="3491574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A69B5-20E1-4B4C-8945-6CB00C08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指令用例设计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965ED5-53F9-44E2-A849-CD450F6092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7" y="963804"/>
            <a:ext cx="10728326" cy="107601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请大家根据</a:t>
            </a:r>
            <a:r>
              <a:rPr lang="en-US" altLang="zh-CN" dirty="0"/>
              <a:t>F</a:t>
            </a:r>
            <a:r>
              <a:rPr lang="zh-CN" altLang="en-US" dirty="0"/>
              <a:t>指令正交分解的测试用例设计，以及实验</a:t>
            </a:r>
            <a:r>
              <a:rPr lang="en-US" altLang="zh-CN" dirty="0"/>
              <a:t>1</a:t>
            </a:r>
            <a:r>
              <a:rPr lang="zh-CN" altLang="en-US" dirty="0">
                <a:solidFill>
                  <a:srgbClr val="C00000"/>
                </a:solidFill>
              </a:rPr>
              <a:t>命名规范</a:t>
            </a:r>
            <a:r>
              <a:rPr lang="zh-CN" altLang="en-US" dirty="0"/>
              <a:t>的实践，</a:t>
            </a:r>
            <a:r>
              <a:rPr lang="zh-CN" altLang="en-US" dirty="0">
                <a:solidFill>
                  <a:srgbClr val="C00000"/>
                </a:solidFill>
              </a:rPr>
              <a:t>实现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zh-CN" altLang="en-US" dirty="0">
                <a:solidFill>
                  <a:srgbClr val="C00000"/>
                </a:solidFill>
              </a:rPr>
              <a:t>指令</a:t>
            </a:r>
            <a:r>
              <a:rPr lang="zh-CN" altLang="en-US" dirty="0"/>
              <a:t>的</a:t>
            </a:r>
            <a:r>
              <a:rPr lang="en-US" altLang="zh-CN" dirty="0"/>
              <a:t>4</a:t>
            </a:r>
            <a:r>
              <a:rPr lang="zh-CN" altLang="en-US" dirty="0"/>
              <a:t>个测试用例</a:t>
            </a:r>
            <a:r>
              <a:rPr lang="en-US" altLang="zh-CN" dirty="0"/>
              <a:t>: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0AFC77F-B862-4B69-9D4B-F23D8F11A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0873"/>
              </p:ext>
            </p:extLst>
          </p:nvPr>
        </p:nvGraphicFramePr>
        <p:xfrm>
          <a:off x="731838" y="2118086"/>
          <a:ext cx="3887053" cy="4200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9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9997">
                  <a:extLst>
                    <a:ext uri="{9D8B030D-6E8A-4147-A177-3AD203B41FA5}">
                      <a16:colId xmlns:a16="http://schemas.microsoft.com/office/drawing/2014/main" val="1366715491"/>
                    </a:ext>
                  </a:extLst>
                </a:gridCol>
              </a:tblGrid>
              <a:tr h="6645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    状态</a:t>
                      </a: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</a:t>
                      </a:r>
                      <a:endParaRPr lang="zh-CN" altLang="en-US" sz="20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BB</a:t>
                      </a:r>
                      <a:endParaRPr lang="zh-CN" altLang="en-US" sz="20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59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M</a:t>
                      </a:r>
                      <a:endParaRPr lang="zh-CN" altLang="en-US" sz="20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0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0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BM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endParaRPr lang="zh-CN" altLang="en-US" sz="20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</a:p>
                    <a:p>
                      <a:pPr algn="ctr"/>
                      <a:r>
                        <a:rPr lang="zh-CN" altLang="en-US" sz="20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BBM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Y+1</a:t>
                      </a:r>
                      <a:endParaRPr lang="zh-CN" altLang="en-US" sz="20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49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  <a:endParaRPr lang="zh-CN" altLang="en-US" sz="20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0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NA</a:t>
                      </a:r>
                      <a:endParaRPr lang="zh-CN" altLang="en-US" sz="20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49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  <a:endParaRPr lang="zh-CN" altLang="en-US" sz="20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0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BR</a:t>
                      </a:r>
                    </a:p>
                    <a:p>
                      <a:pPr algn="ctr"/>
                      <a:r>
                        <a:rPr lang="zh-CN" altLang="en-US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endParaRPr lang="zh-CN" altLang="en-US" sz="20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NA</a:t>
                      </a:r>
                      <a:endParaRPr lang="zh-CN" altLang="en-US" sz="20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03741C7-3A4E-49B9-B3FA-8C5EFEDB84A2}"/>
              </a:ext>
            </a:extLst>
          </p:cNvPr>
          <p:cNvCxnSpPr>
            <a:cxnSpLocks/>
          </p:cNvCxnSpPr>
          <p:nvPr/>
        </p:nvCxnSpPr>
        <p:spPr>
          <a:xfrm>
            <a:off x="731838" y="2118086"/>
            <a:ext cx="848606" cy="673461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6B417B7-EC19-4107-83C2-38B16249FB80}"/>
              </a:ext>
            </a:extLst>
          </p:cNvPr>
          <p:cNvSpPr txBox="1"/>
          <p:nvPr/>
        </p:nvSpPr>
        <p:spPr>
          <a:xfrm>
            <a:off x="731838" y="2452993"/>
            <a:ext cx="690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BF95AA-57FB-4AA9-967A-F2B30C1FD422}"/>
              </a:ext>
            </a:extLst>
          </p:cNvPr>
          <p:cNvSpPr txBox="1"/>
          <p:nvPr/>
        </p:nvSpPr>
        <p:spPr>
          <a:xfrm>
            <a:off x="4685173" y="2118086"/>
            <a:ext cx="7032694" cy="4200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333333"/>
                </a:solidFill>
                <a:effectLst/>
              </a:rPr>
              <a:t>should_return_x_minus_1_given_status_is_reverse_command_is_m_and_facing_is_e</a:t>
            </a:r>
          </a:p>
          <a:p>
            <a:pPr>
              <a:lnSpc>
                <a:spcPct val="150000"/>
              </a:lnSpc>
            </a:pPr>
            <a:endParaRPr lang="en-US" altLang="zh-CN" b="0" dirty="0">
              <a:solidFill>
                <a:srgbClr val="333333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333333"/>
                </a:solidFill>
                <a:effectLst/>
              </a:rPr>
              <a:t>should_return_s_given_status_is_reverse_command_is_l_and_facing_is_e</a:t>
            </a:r>
          </a:p>
          <a:p>
            <a:pPr>
              <a:lnSpc>
                <a:spcPct val="150000"/>
              </a:lnSpc>
            </a:pPr>
            <a:endParaRPr lang="en-US" altLang="zh-CN" b="0" dirty="0">
              <a:solidFill>
                <a:srgbClr val="333333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333333"/>
                </a:solidFill>
                <a:effectLst/>
              </a:rPr>
              <a:t>should_return_n_given_status_is_reverse_command_is_r_and_facing_is_e</a:t>
            </a:r>
          </a:p>
          <a:p>
            <a:pPr>
              <a:lnSpc>
                <a:spcPct val="150000"/>
              </a:lnSpc>
            </a:pPr>
            <a:endParaRPr lang="en-US" altLang="zh-CN" b="0" dirty="0">
              <a:solidFill>
                <a:srgbClr val="333333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333333"/>
                </a:solidFill>
                <a:effectLst/>
              </a:rPr>
              <a:t>should_return_y_plus_1_given_command_is_bbm_and_facing_is_n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376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A69B5-20E1-4B4C-8945-6CB00C08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指令用例设计：</a:t>
            </a:r>
            <a:r>
              <a:rPr lang="en-US" altLang="zh-CN" dirty="0"/>
              <a:t>B</a:t>
            </a:r>
            <a:r>
              <a:rPr lang="zh-CN" altLang="en-US" dirty="0"/>
              <a:t>状态下执行移动指令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1EDE38-7F49-4FE6-B8F9-456295997D22}"/>
              </a:ext>
            </a:extLst>
          </p:cNvPr>
          <p:cNvSpPr txBox="1"/>
          <p:nvPr/>
        </p:nvSpPr>
        <p:spPr>
          <a:xfrm>
            <a:off x="731838" y="995412"/>
            <a:ext cx="44871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/>
              <a:t>创建</a:t>
            </a:r>
            <a:r>
              <a:rPr lang="en-US" altLang="zh-CN" sz="2200" dirty="0"/>
              <a:t>tests/executor_reverse_test.rs</a:t>
            </a:r>
            <a:endParaRPr lang="zh-CN" altLang="en-US" sz="2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2FE61E7-EC6C-46B2-A07A-EBF69F42B4D4}"/>
              </a:ext>
            </a:extLst>
          </p:cNvPr>
          <p:cNvSpPr txBox="1"/>
          <p:nvPr/>
        </p:nvSpPr>
        <p:spPr>
          <a:xfrm>
            <a:off x="731837" y="1591413"/>
            <a:ext cx="10728325" cy="37856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4B69C6"/>
                </a:solidFill>
                <a:effectLst/>
              </a:rPr>
              <a:t>use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::{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4B69C6"/>
                </a:solidFill>
                <a:effectLst/>
              </a:rPr>
              <a:t>mod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reverse_tests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use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super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::*;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#[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]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should_return_x_minus_1_given_status_is_</a:t>
            </a:r>
            <a:r>
              <a:rPr lang="en-US" altLang="zh-CN" sz="1600" b="1" dirty="0">
                <a:solidFill>
                  <a:srgbClr val="AA3731"/>
                </a:solidFill>
              </a:rPr>
              <a:t>reverse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_command_is_m_and_facing_is_e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endParaRPr lang="en-US" altLang="zh-CN" sz="1600" b="0" i="1" dirty="0">
              <a:solidFill>
                <a:srgbClr val="AAAAAA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"BM"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endParaRPr lang="en-US" altLang="zh-CN" sz="1600" b="0" i="1" dirty="0">
              <a:solidFill>
                <a:srgbClr val="AAAAAA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-1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!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query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8985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E1D35-8BFD-463E-B96E-96A6295A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660" y="237016"/>
            <a:ext cx="10604148" cy="485982"/>
          </a:xfrm>
        </p:spPr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指令用例设计：</a:t>
            </a:r>
            <a:r>
              <a:rPr lang="en-US" altLang="zh-CN" dirty="0"/>
              <a:t>B</a:t>
            </a:r>
            <a:r>
              <a:rPr lang="zh-CN" altLang="en-US" dirty="0"/>
              <a:t>状态下执行转向指令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D7E1F3-1110-4C01-8D67-D2EDB3CFD95C}"/>
              </a:ext>
            </a:extLst>
          </p:cNvPr>
          <p:cNvSpPr txBox="1"/>
          <p:nvPr/>
        </p:nvSpPr>
        <p:spPr>
          <a:xfrm>
            <a:off x="607660" y="864341"/>
            <a:ext cx="10728325" cy="50167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#[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]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should_return_s_given_status_is_reverse_command_is_l_and_facing_is_e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"BL"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!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query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#[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]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should_return_n_given_status_is_reverse_command_is_r_and_facing_is_e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"BR"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!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query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48452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8336A-AB73-49C7-A82F-585220E5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指令用例设计：再一次收到</a:t>
            </a:r>
            <a:r>
              <a:rPr lang="en-US" altLang="zh-CN" dirty="0"/>
              <a:t>B</a:t>
            </a:r>
            <a:r>
              <a:rPr lang="zh-CN" altLang="en-US" dirty="0"/>
              <a:t>指令，状态取消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87E205-91F4-46E4-9984-F9F94C2E99D1}"/>
              </a:ext>
            </a:extLst>
          </p:cNvPr>
          <p:cNvSpPr txBox="1"/>
          <p:nvPr/>
        </p:nvSpPr>
        <p:spPr>
          <a:xfrm>
            <a:off x="731837" y="1175309"/>
            <a:ext cx="10728325" cy="28007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#[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]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should_return_y_plus_1_given_command_is_bbm_and_facing_is_n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original_pose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"BBM"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!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expected_pose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query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04582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31837" y="360785"/>
            <a:ext cx="10728325" cy="485982"/>
          </a:xfrm>
        </p:spPr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指令用例设计：编译运行验证，确保用例有效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223BCA-6836-4865-88F8-097BB585DB2A}"/>
              </a:ext>
            </a:extLst>
          </p:cNvPr>
          <p:cNvSpPr txBox="1"/>
          <p:nvPr/>
        </p:nvSpPr>
        <p:spPr>
          <a:xfrm>
            <a:off x="731837" y="1057782"/>
            <a:ext cx="1061543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cargo test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A614A5-18AE-4D24-AA06-21D9B66BACA9}"/>
              </a:ext>
            </a:extLst>
          </p:cNvPr>
          <p:cNvSpPr txBox="1"/>
          <p:nvPr/>
        </p:nvSpPr>
        <p:spPr>
          <a:xfrm>
            <a:off x="731837" y="2280889"/>
            <a:ext cx="10615436" cy="9634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git add .</a:t>
            </a:r>
          </a:p>
          <a:p>
            <a:pPr>
              <a:lnSpc>
                <a:spcPct val="150000"/>
              </a:lnSpc>
            </a:pPr>
            <a:r>
              <a:rPr lang="en-US" altLang="zh-CN" sz="20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git commit –m ‘add test cases for reverse’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11CD6B-0390-4063-8E2D-61FEB6BCD975}"/>
              </a:ext>
            </a:extLst>
          </p:cNvPr>
          <p:cNvSpPr txBox="1"/>
          <p:nvPr/>
        </p:nvSpPr>
        <p:spPr>
          <a:xfrm>
            <a:off x="731837" y="182098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代码及时上库</a:t>
            </a:r>
          </a:p>
        </p:txBody>
      </p:sp>
    </p:spTree>
    <p:extLst>
      <p:ext uri="{BB962C8B-B14F-4D97-AF65-F5344CB8AC3E}">
        <p14:creationId xmlns:p14="http://schemas.microsoft.com/office/powerpoint/2010/main" val="634176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E29BC-3561-4EF1-B717-18B451F31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B</a:t>
            </a:r>
            <a:r>
              <a:rPr lang="zh-CN" altLang="en-US" sz="2800" dirty="0">
                <a:latin typeface="+mj-ea"/>
                <a:ea typeface="+mj-ea"/>
              </a:rPr>
              <a:t>指令功能代码实现：创建</a:t>
            </a:r>
            <a:r>
              <a:rPr lang="en-US" altLang="zh-CN" sz="2800" dirty="0">
                <a:latin typeface="+mj-ea"/>
                <a:ea typeface="+mj-ea"/>
              </a:rPr>
              <a:t>B</a:t>
            </a:r>
            <a:r>
              <a:rPr lang="zh-CN" altLang="en-US" sz="2800" dirty="0">
                <a:latin typeface="+mj-ea"/>
                <a:ea typeface="+mj-ea"/>
              </a:rPr>
              <a:t>指令的处理逻辑</a:t>
            </a:r>
            <a:r>
              <a:rPr lang="en-US" altLang="zh-CN" sz="2800" dirty="0">
                <a:latin typeface="+mj-ea"/>
                <a:ea typeface="+mj-ea"/>
              </a:rPr>
              <a:t>State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100844-F7B0-4051-8A4C-04FF35BEDFF7}"/>
              </a:ext>
            </a:extLst>
          </p:cNvPr>
          <p:cNvSpPr txBox="1"/>
          <p:nvPr/>
        </p:nvSpPr>
        <p:spPr>
          <a:xfrm>
            <a:off x="731838" y="1714309"/>
            <a:ext cx="5567362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777777"/>
                </a:solidFill>
                <a:effectLst/>
              </a:rPr>
              <a:t>#[</a:t>
            </a:r>
            <a:r>
              <a:rPr lang="en-US" altLang="zh-CN" b="1" dirty="0">
                <a:solidFill>
                  <a:srgbClr val="AA3731"/>
                </a:solidFill>
                <a:effectLst/>
              </a:rPr>
              <a:t>derive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Default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Copy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Clone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)]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struct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dirty="0">
                <a:solidFill>
                  <a:srgbClr val="4B69C6"/>
                </a:solidFill>
              </a:rPr>
              <a:t>pub</a:t>
            </a:r>
            <a:r>
              <a:rPr lang="en-US" altLang="zh-CN" dirty="0">
                <a:solidFill>
                  <a:srgbClr val="777777"/>
                </a:solidFill>
              </a:rPr>
              <a:t>(</a:t>
            </a:r>
            <a:r>
              <a:rPr lang="en-US" altLang="zh-CN" dirty="0">
                <a:solidFill>
                  <a:srgbClr val="4B69C6"/>
                </a:solidFill>
              </a:rPr>
              <a:t>crate</a:t>
            </a:r>
            <a:r>
              <a:rPr lang="en-US" altLang="zh-CN" dirty="0">
                <a:solidFill>
                  <a:srgbClr val="777777"/>
                </a:solidFill>
              </a:rPr>
              <a:t>) 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bool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br>
              <a:rPr lang="en-US" altLang="zh-CN" b="0" dirty="0">
                <a:solidFill>
                  <a:srgbClr val="333333"/>
                </a:solidFill>
                <a:effectLst/>
              </a:rPr>
            </a:br>
            <a:r>
              <a:rPr lang="en-US" altLang="zh-CN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br>
              <a:rPr lang="en-US" altLang="zh-CN" b="0" dirty="0">
                <a:solidFill>
                  <a:srgbClr val="333333"/>
                </a:solidFill>
                <a:effectLst/>
              </a:rPr>
            </a:br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u="sng" dirty="0" err="1">
                <a:solidFill>
                  <a:srgbClr val="AA3731"/>
                </a:solidFill>
              </a:rPr>
              <a:t>be_r</a:t>
            </a:r>
            <a:r>
              <a:rPr lang="en-US" altLang="zh-CN" b="0" u="sng" dirty="0" err="1">
                <a:solidFill>
                  <a:srgbClr val="AA3731"/>
                </a:solidFill>
                <a:effectLst/>
              </a:rPr>
              <a:t>everse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!</a:t>
            </a:r>
            <a:r>
              <a:rPr lang="en-US" altLang="zh-CN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;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4041E8-1FBA-4494-945C-462FFDA47FDE}"/>
              </a:ext>
            </a:extLst>
          </p:cNvPr>
          <p:cNvSpPr txBox="1"/>
          <p:nvPr/>
        </p:nvSpPr>
        <p:spPr>
          <a:xfrm>
            <a:off x="6536266" y="1714309"/>
            <a:ext cx="4720032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a-DK" altLang="zh-CN" b="0" dirty="0">
                <a:solidFill>
                  <a:srgbClr val="4B69C6"/>
                </a:solidFill>
                <a:effectLst/>
              </a:rPr>
              <a:t>mod</a:t>
            </a:r>
            <a:r>
              <a:rPr lang="da-DK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da-DK" altLang="zh-CN" b="1" dirty="0">
                <a:solidFill>
                  <a:srgbClr val="7A3E9D"/>
                </a:solidFill>
                <a:effectLst/>
              </a:rPr>
              <a:t>executor</a:t>
            </a:r>
            <a:r>
              <a:rPr lang="da-DK" altLang="zh-CN" b="0" dirty="0">
                <a:solidFill>
                  <a:srgbClr val="777777"/>
                </a:solidFill>
                <a:effectLst/>
              </a:rPr>
              <a:t>;</a:t>
            </a:r>
            <a:endParaRPr lang="da-DK" altLang="zh-CN" b="0" dirty="0">
              <a:solidFill>
                <a:srgbClr val="333333"/>
              </a:solidFill>
              <a:effectLst/>
            </a:endParaRPr>
          </a:p>
          <a:p>
            <a:r>
              <a:rPr lang="da-DK" altLang="zh-CN" b="0" dirty="0">
                <a:solidFill>
                  <a:srgbClr val="4B69C6"/>
                </a:solidFill>
                <a:effectLst/>
              </a:rPr>
              <a:t>mod</a:t>
            </a:r>
            <a:r>
              <a:rPr lang="da-DK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da-DK" altLang="zh-CN" b="1" dirty="0">
                <a:solidFill>
                  <a:srgbClr val="7A3E9D"/>
                </a:solidFill>
                <a:effectLst/>
              </a:rPr>
              <a:t>pose</a:t>
            </a:r>
            <a:r>
              <a:rPr lang="da-DK" altLang="zh-CN" b="0" dirty="0">
                <a:solidFill>
                  <a:srgbClr val="777777"/>
                </a:solidFill>
                <a:effectLst/>
              </a:rPr>
              <a:t>;</a:t>
            </a:r>
            <a:endParaRPr lang="da-DK" altLang="zh-CN" b="0" dirty="0">
              <a:solidFill>
                <a:srgbClr val="333333"/>
              </a:solidFill>
              <a:effectLst/>
            </a:endParaRPr>
          </a:p>
          <a:p>
            <a:r>
              <a:rPr lang="da-DK" altLang="zh-CN" b="0" dirty="0">
                <a:solidFill>
                  <a:srgbClr val="4B69C6"/>
                </a:solidFill>
                <a:effectLst/>
              </a:rPr>
              <a:t>mod</a:t>
            </a:r>
            <a:r>
              <a:rPr lang="da-DK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da-DK" altLang="zh-CN" b="1" dirty="0">
                <a:solidFill>
                  <a:srgbClr val="7A3E9D"/>
                </a:solidFill>
                <a:effectLst/>
              </a:rPr>
              <a:t>state</a:t>
            </a:r>
            <a:r>
              <a:rPr lang="da-DK" altLang="zh-CN" b="0" dirty="0">
                <a:solidFill>
                  <a:srgbClr val="777777"/>
                </a:solidFill>
                <a:effectLst/>
              </a:rPr>
              <a:t>;</a:t>
            </a:r>
            <a:endParaRPr lang="da-DK" altLang="zh-CN" b="0" dirty="0">
              <a:solidFill>
                <a:srgbClr val="333333"/>
              </a:solidFill>
              <a:effectLst/>
            </a:endParaRPr>
          </a:p>
          <a:p>
            <a:br>
              <a:rPr lang="en-US" altLang="zh-CN" b="0" dirty="0">
                <a:solidFill>
                  <a:srgbClr val="333333"/>
                </a:solidFill>
                <a:effectLst/>
              </a:rPr>
            </a:br>
            <a:r>
              <a:rPr lang="en-US" altLang="zh-CN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use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;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use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;</a:t>
            </a:r>
            <a:endParaRPr lang="en-US" altLang="zh-CN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564655-4E8E-488B-8CFF-6F974AC5D839}"/>
              </a:ext>
            </a:extLst>
          </p:cNvPr>
          <p:cNvSpPr txBox="1"/>
          <p:nvPr/>
        </p:nvSpPr>
        <p:spPr>
          <a:xfrm>
            <a:off x="6536266" y="1168255"/>
            <a:ext cx="90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lib.rs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0DDA76-845F-47B2-A294-E694E1E753B7}"/>
              </a:ext>
            </a:extLst>
          </p:cNvPr>
          <p:cNvSpPr txBox="1"/>
          <p:nvPr/>
        </p:nvSpPr>
        <p:spPr>
          <a:xfrm>
            <a:off x="731838" y="1241075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state.rs</a:t>
            </a:r>
            <a:endParaRPr lang="zh-CN" altLang="en-US" dirty="0"/>
          </a:p>
        </p:txBody>
      </p:sp>
      <p:sp>
        <p:nvSpPr>
          <p:cNvPr id="13" name="圆角矩形 13">
            <a:extLst>
              <a:ext uri="{FF2B5EF4-FFF2-40B4-BE49-F238E27FC236}">
                <a16:creationId xmlns:a16="http://schemas.microsoft.com/office/drawing/2014/main" id="{25B8A938-2806-480E-BA25-5C53148F05C5}"/>
              </a:ext>
            </a:extLst>
          </p:cNvPr>
          <p:cNvSpPr/>
          <p:nvPr/>
        </p:nvSpPr>
        <p:spPr bwMode="auto">
          <a:xfrm>
            <a:off x="6546332" y="2307333"/>
            <a:ext cx="1344601" cy="36933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697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B4195-EF19-49D5-8B78-07C8FCAA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指令功能代码实现：</a:t>
            </a:r>
            <a:r>
              <a:rPr lang="en-US" altLang="zh-CN" dirty="0"/>
              <a:t>MLR</a:t>
            </a:r>
            <a:r>
              <a:rPr lang="zh-CN" altLang="en-US" dirty="0"/>
              <a:t>指令支持</a:t>
            </a:r>
            <a:r>
              <a:rPr lang="en-US" altLang="zh-CN" dirty="0"/>
              <a:t>B</a:t>
            </a:r>
            <a:r>
              <a:rPr lang="zh-CN" altLang="en-US" dirty="0"/>
              <a:t>指令状态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7414A7-2FE7-40B5-98EF-8AFC6816878D}"/>
              </a:ext>
            </a:extLst>
          </p:cNvPr>
          <p:cNvSpPr txBox="1"/>
          <p:nvPr/>
        </p:nvSpPr>
        <p:spPr>
          <a:xfrm>
            <a:off x="731838" y="1026363"/>
            <a:ext cx="10466740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800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sz="18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8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8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8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8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8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800" b="0" dirty="0">
                <a:solidFill>
                  <a:srgbClr val="4B69C6"/>
                </a:solidFill>
                <a:effectLst/>
              </a:rPr>
              <a:t>…</a:t>
            </a:r>
            <a:br>
              <a:rPr lang="en-US" altLang="zh-CN" sz="1800" b="0" dirty="0">
                <a:solidFill>
                  <a:srgbClr val="333333"/>
                </a:solidFill>
                <a:effectLst/>
              </a:rPr>
            </a:br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&amp;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str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in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1" dirty="0" err="1">
                <a:solidFill>
                  <a:srgbClr val="AA3731"/>
                </a:solidFill>
                <a:effectLst/>
              </a:rPr>
              <a:t>chars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b="0" dirty="0">
                <a:solidFill>
                  <a:srgbClr val="448C27"/>
                </a:solidFill>
                <a:effectLst/>
              </a:rPr>
              <a:t>'M'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b="0" dirty="0">
                <a:solidFill>
                  <a:srgbClr val="448C27"/>
                </a:solidFill>
                <a:effectLst/>
              </a:rPr>
              <a:t>'L'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u="sng" dirty="0" err="1">
                <a:solidFill>
                  <a:srgbClr val="AA3731"/>
                </a:solidFill>
                <a:effectLst/>
              </a:rPr>
              <a:t>turn_left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b="0" dirty="0">
                <a:solidFill>
                  <a:srgbClr val="448C27"/>
                </a:solidFill>
                <a:effectLst/>
              </a:rPr>
              <a:t>'R'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u="sng" dirty="0" err="1">
                <a:solidFill>
                  <a:srgbClr val="AA3731"/>
                </a:solidFill>
                <a:effectLst/>
              </a:rPr>
              <a:t>turn_right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br>
              <a:rPr lang="en-US" altLang="zh-CN" sz="1800" b="0" dirty="0">
                <a:solidFill>
                  <a:srgbClr val="333333"/>
                </a:solidFill>
                <a:effectLst/>
              </a:rPr>
            </a:br>
            <a:r>
              <a:rPr lang="en-US" altLang="zh-CN" sz="18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800" b="0" dirty="0">
                <a:solidFill>
                  <a:srgbClr val="4B69C6"/>
                </a:solidFill>
                <a:effectLst/>
              </a:rPr>
              <a:t>…</a:t>
            </a:r>
            <a:endParaRPr lang="en-US" altLang="zh-CN" sz="18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8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8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7" name="圆角矩形 13">
            <a:extLst>
              <a:ext uri="{FF2B5EF4-FFF2-40B4-BE49-F238E27FC236}">
                <a16:creationId xmlns:a16="http://schemas.microsoft.com/office/drawing/2014/main" id="{7AFA4341-7D6D-4510-8C7E-B8913374F73B}"/>
              </a:ext>
            </a:extLst>
          </p:cNvPr>
          <p:cNvSpPr/>
          <p:nvPr/>
        </p:nvSpPr>
        <p:spPr bwMode="auto">
          <a:xfrm>
            <a:off x="1863868" y="2363171"/>
            <a:ext cx="3091954" cy="338555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AC0682-5612-42C7-901B-FF0916E6821C}"/>
              </a:ext>
            </a:extLst>
          </p:cNvPr>
          <p:cNvSpPr txBox="1"/>
          <p:nvPr/>
        </p:nvSpPr>
        <p:spPr>
          <a:xfrm>
            <a:off x="5497258" y="2091365"/>
            <a:ext cx="3697544" cy="88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forward</a:t>
            </a:r>
            <a:r>
              <a:rPr lang="zh-CN" altLang="en-US" dirty="0">
                <a:latin typeface="+mn-ea"/>
              </a:rPr>
              <a:t>目前只支持向前移动，在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指令状态下，需要支持后退操作</a:t>
            </a:r>
          </a:p>
        </p:txBody>
      </p:sp>
    </p:spTree>
    <p:extLst>
      <p:ext uri="{BB962C8B-B14F-4D97-AF65-F5344CB8AC3E}">
        <p14:creationId xmlns:p14="http://schemas.microsoft.com/office/powerpoint/2010/main" val="315724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5E3B4-F909-46EE-8424-DD096FEF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指令功能代码实现：</a:t>
            </a:r>
            <a:r>
              <a:rPr lang="en-US" altLang="zh-CN" dirty="0"/>
              <a:t>forward</a:t>
            </a:r>
            <a:r>
              <a:rPr lang="zh-CN" altLang="en-US" dirty="0"/>
              <a:t>支持后退操作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D1F7F6-C43F-4EA0-B4BD-F54C49A13A41}"/>
              </a:ext>
            </a:extLst>
          </p:cNvPr>
          <p:cNvSpPr txBox="1"/>
          <p:nvPr/>
        </p:nvSpPr>
        <p:spPr>
          <a:xfrm>
            <a:off x="731838" y="1144182"/>
            <a:ext cx="10577024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offset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i32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b="0" dirty="0">
                <a:solidFill>
                  <a:srgbClr val="448C27"/>
                </a:solidFill>
                <a:effectLst/>
              </a:rPr>
              <a:t>'E'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>
                <a:solidFill>
                  <a:srgbClr val="777777"/>
                </a:solidFill>
                <a:effectLst/>
              </a:rPr>
              <a:t>+=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offset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b="0" dirty="0">
                <a:solidFill>
                  <a:srgbClr val="448C27"/>
                </a:solidFill>
                <a:effectLst/>
              </a:rPr>
              <a:t>'S'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>
                <a:solidFill>
                  <a:srgbClr val="777777"/>
                </a:solidFill>
                <a:effectLst/>
              </a:rPr>
              <a:t>-=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offset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b="0" dirty="0">
                <a:solidFill>
                  <a:srgbClr val="448C27"/>
                </a:solidFill>
                <a:effectLst/>
              </a:rPr>
              <a:t>'W'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>
                <a:solidFill>
                  <a:srgbClr val="777777"/>
                </a:solidFill>
                <a:effectLst/>
              </a:rPr>
              <a:t>-=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offset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b="0" dirty="0">
                <a:solidFill>
                  <a:srgbClr val="448C27"/>
                </a:solidFill>
                <a:effectLst/>
              </a:rPr>
              <a:t>'N'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>
                <a:solidFill>
                  <a:srgbClr val="777777"/>
                </a:solidFill>
                <a:effectLst/>
              </a:rPr>
              <a:t>+=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offset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6" name="圆角矩形 13">
            <a:extLst>
              <a:ext uri="{FF2B5EF4-FFF2-40B4-BE49-F238E27FC236}">
                <a16:creationId xmlns:a16="http://schemas.microsoft.com/office/drawing/2014/main" id="{66B74B5B-84D5-41B6-AF8D-C1AA441C90D0}"/>
              </a:ext>
            </a:extLst>
          </p:cNvPr>
          <p:cNvSpPr/>
          <p:nvPr/>
        </p:nvSpPr>
        <p:spPr bwMode="auto">
          <a:xfrm>
            <a:off x="4583956" y="1439508"/>
            <a:ext cx="1173377" cy="290238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8" name="圆角矩形 13">
            <a:extLst>
              <a:ext uri="{FF2B5EF4-FFF2-40B4-BE49-F238E27FC236}">
                <a16:creationId xmlns:a16="http://schemas.microsoft.com/office/drawing/2014/main" id="{2BB81705-EA9F-4DFA-834D-417B733DFA89}"/>
              </a:ext>
            </a:extLst>
          </p:cNvPr>
          <p:cNvSpPr/>
          <p:nvPr/>
        </p:nvSpPr>
        <p:spPr bwMode="auto">
          <a:xfrm>
            <a:off x="2712376" y="1976831"/>
            <a:ext cx="1238735" cy="1218350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441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B6628-13D8-426A-839B-45C22850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</a:t>
            </a:r>
            <a:r>
              <a:rPr lang="zh-CN" altLang="en-US" dirty="0"/>
              <a:t>指令功能代码实现： </a:t>
            </a:r>
            <a:r>
              <a:rPr lang="en-US" altLang="zh-CN" dirty="0"/>
              <a:t>Executor</a:t>
            </a:r>
            <a:r>
              <a:rPr lang="zh-CN" altLang="en-US" dirty="0"/>
              <a:t>添加</a:t>
            </a:r>
            <a:r>
              <a:rPr lang="en-US" altLang="zh-CN" dirty="0"/>
              <a:t>B</a:t>
            </a:r>
            <a:r>
              <a:rPr lang="zh-CN" altLang="en-US" dirty="0"/>
              <a:t>指令状态保存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FA3DC5-60DE-4EE1-9AA6-2547C3256F64}"/>
              </a:ext>
            </a:extLst>
          </p:cNvPr>
          <p:cNvSpPr txBox="1"/>
          <p:nvPr/>
        </p:nvSpPr>
        <p:spPr>
          <a:xfrm>
            <a:off x="763391" y="1071201"/>
            <a:ext cx="10771540" cy="50783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cate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zh-CN" b="0" dirty="0">
                <a:solidFill>
                  <a:srgbClr val="333333"/>
                </a:solidFill>
                <a:effectLst/>
              </a:rPr>
            </a:br>
            <a:r>
              <a:rPr lang="en-US" altLang="zh-CN" b="0" dirty="0">
                <a:solidFill>
                  <a:srgbClr val="777777"/>
                </a:solidFill>
                <a:effectLst/>
              </a:rPr>
              <a:t>…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br>
              <a:rPr lang="en-US" altLang="zh-CN" b="0" dirty="0">
                <a:solidFill>
                  <a:srgbClr val="333333"/>
                </a:solidFill>
                <a:effectLst/>
              </a:rPr>
            </a:br>
            <a:r>
              <a:rPr lang="en-US" altLang="zh-CN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struct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br>
              <a:rPr lang="en-US" altLang="zh-CN" b="0" dirty="0">
                <a:solidFill>
                  <a:srgbClr val="333333"/>
                </a:solidFill>
                <a:effectLst/>
              </a:rPr>
            </a:br>
            <a:r>
              <a:rPr lang="en-US" altLang="zh-CN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 err="1">
                <a:solidFill>
                  <a:srgbClr val="AA3731"/>
                </a:solidFill>
                <a:effectLst/>
              </a:rPr>
              <a:t>with_pose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b="1" dirty="0">
                <a:solidFill>
                  <a:srgbClr val="AA3731"/>
                </a:solidFill>
                <a:effectLst/>
              </a:rPr>
              <a:t>default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br>
              <a:rPr lang="en-US" altLang="zh-CN" b="0" dirty="0">
                <a:solidFill>
                  <a:srgbClr val="333333"/>
                </a:solidFill>
                <a:effectLst/>
              </a:rPr>
            </a:br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…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0" name="圆角矩形 13">
            <a:extLst>
              <a:ext uri="{FF2B5EF4-FFF2-40B4-BE49-F238E27FC236}">
                <a16:creationId xmlns:a16="http://schemas.microsoft.com/office/drawing/2014/main" id="{E1713911-233B-4F9F-BFE9-BEABAE054E7F}"/>
              </a:ext>
            </a:extLst>
          </p:cNvPr>
          <p:cNvSpPr/>
          <p:nvPr/>
        </p:nvSpPr>
        <p:spPr bwMode="auto">
          <a:xfrm>
            <a:off x="763391" y="1355354"/>
            <a:ext cx="3187720" cy="36933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2" name="圆角矩形 13">
            <a:extLst>
              <a:ext uri="{FF2B5EF4-FFF2-40B4-BE49-F238E27FC236}">
                <a16:creationId xmlns:a16="http://schemas.microsoft.com/office/drawing/2014/main" id="{089B8AB8-DF11-4A02-982C-847DB35AF779}"/>
              </a:ext>
            </a:extLst>
          </p:cNvPr>
          <p:cNvSpPr/>
          <p:nvPr/>
        </p:nvSpPr>
        <p:spPr bwMode="auto">
          <a:xfrm>
            <a:off x="1034918" y="2747503"/>
            <a:ext cx="1471215" cy="36933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6" name="圆角矩形 13">
            <a:extLst>
              <a:ext uri="{FF2B5EF4-FFF2-40B4-BE49-F238E27FC236}">
                <a16:creationId xmlns:a16="http://schemas.microsoft.com/office/drawing/2014/main" id="{478F0F62-43C4-435B-A172-E369219E0314}"/>
              </a:ext>
            </a:extLst>
          </p:cNvPr>
          <p:cNvSpPr/>
          <p:nvPr/>
        </p:nvSpPr>
        <p:spPr bwMode="auto">
          <a:xfrm>
            <a:off x="1627020" y="4664916"/>
            <a:ext cx="3001423" cy="36933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842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8733E4-405A-4AA7-AC49-FE0AC5592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指令功能代码实现：</a:t>
            </a:r>
            <a:r>
              <a:rPr lang="en-US" altLang="zh-CN" dirty="0"/>
              <a:t>MLR</a:t>
            </a:r>
            <a:r>
              <a:rPr lang="zh-CN" altLang="en-US" dirty="0"/>
              <a:t>指令支持</a:t>
            </a:r>
            <a:r>
              <a:rPr lang="en-US" altLang="zh-CN" dirty="0"/>
              <a:t>B</a:t>
            </a:r>
            <a:r>
              <a:rPr lang="zh-CN" altLang="en-US" dirty="0"/>
              <a:t>状态指令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504EB0-38CB-4906-9FE5-FA6499081817}"/>
              </a:ext>
            </a:extLst>
          </p:cNvPr>
          <p:cNvSpPr txBox="1"/>
          <p:nvPr/>
        </p:nvSpPr>
        <p:spPr>
          <a:xfrm>
            <a:off x="731837" y="1132132"/>
            <a:ext cx="5025496" cy="50167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…</a:t>
            </a:r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&amp;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chars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'B'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u="sng" dirty="0" err="1">
                <a:solidFill>
                  <a:srgbClr val="AA3731"/>
                </a:solidFill>
              </a:rPr>
              <a:t>be_r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everse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'M'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-1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'L'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turn_right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turn_left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983A00-A58F-42DC-ABF7-925A17D138D6}"/>
              </a:ext>
            </a:extLst>
          </p:cNvPr>
          <p:cNvSpPr txBox="1"/>
          <p:nvPr/>
        </p:nvSpPr>
        <p:spPr>
          <a:xfrm>
            <a:off x="5887794" y="1132132"/>
            <a:ext cx="5572369" cy="28007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'R'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turn_left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6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turn_right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130CEC-8D9E-44C7-ABA3-1AD974A2093A}"/>
              </a:ext>
            </a:extLst>
          </p:cNvPr>
          <p:cNvSpPr txBox="1"/>
          <p:nvPr/>
        </p:nvSpPr>
        <p:spPr>
          <a:xfrm>
            <a:off x="5887794" y="43666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代码又呈现膨胀的趋势了</a:t>
            </a:r>
          </a:p>
        </p:txBody>
      </p:sp>
    </p:spTree>
    <p:extLst>
      <p:ext uri="{BB962C8B-B14F-4D97-AF65-F5344CB8AC3E}">
        <p14:creationId xmlns:p14="http://schemas.microsoft.com/office/powerpoint/2010/main" val="228198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C2B1B-FD92-49FD-81A7-E36ABDDB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练习时间，完成</a:t>
            </a:r>
            <a:r>
              <a:rPr lang="en-US" altLang="zh-CN" dirty="0"/>
              <a:t>B</a:t>
            </a:r>
            <a:r>
              <a:rPr lang="zh-CN" altLang="en-US" dirty="0"/>
              <a:t>指令功能代码编写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162213-239C-42BB-B1E2-8171C2B1BAEE}"/>
              </a:ext>
            </a:extLst>
          </p:cNvPr>
          <p:cNvSpPr txBox="1"/>
          <p:nvPr/>
        </p:nvSpPr>
        <p:spPr>
          <a:xfrm>
            <a:off x="599607" y="2037095"/>
            <a:ext cx="10915060" cy="12918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cargo test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git add .</a:t>
            </a: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git commit –m ‘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p</a:t>
            </a:r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ass test cases for reverse’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3BEE0-7419-4ECA-90B3-478AC091F200}"/>
              </a:ext>
            </a:extLst>
          </p:cNvPr>
          <p:cNvSpPr txBox="1"/>
          <p:nvPr/>
        </p:nvSpPr>
        <p:spPr>
          <a:xfrm>
            <a:off x="523630" y="1318247"/>
            <a:ext cx="5572370" cy="506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编译运行验证，代码及时上库</a:t>
            </a:r>
          </a:p>
        </p:txBody>
      </p:sp>
    </p:spTree>
    <p:extLst>
      <p:ext uri="{BB962C8B-B14F-4D97-AF65-F5344CB8AC3E}">
        <p14:creationId xmlns:p14="http://schemas.microsoft.com/office/powerpoint/2010/main" val="111672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新功能扩展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模块化编程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任务编排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课后作业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982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方正兰亭黑简体" panose="02000000000000000000" pitchFamily="2" charset="-122"/>
              </a:rPr>
              <a:t>课程实训需求</a:t>
            </a:r>
            <a:r>
              <a:rPr lang="en-US" altLang="zh-CN" dirty="0">
                <a:latin typeface="方正兰亭黑简体" panose="02000000000000000000" pitchFamily="2" charset="-122"/>
              </a:rPr>
              <a:t>2-2 </a:t>
            </a:r>
            <a:r>
              <a:rPr lang="zh-CN" altLang="en-US" dirty="0">
                <a:latin typeface="方正兰亭黑简体" panose="02000000000000000000" pitchFamily="2" charset="-122"/>
              </a:rPr>
              <a:t>支持加速指令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731837" y="1086507"/>
            <a:ext cx="10728325" cy="4879975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22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Executor</a:t>
            </a:r>
            <a:r>
              <a:rPr lang="zh-CN" altLang="en-US" sz="22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组件增加执行加速指令：</a:t>
            </a:r>
            <a:endParaRPr lang="en-US" altLang="zh-CN" sz="2200" b="1" dirty="0">
              <a:latin typeface="方正兰亭黑简体" panose="02000000000000000000" pitchFamily="2" charset="-12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000" b="1" dirty="0">
                <a:latin typeface="+mn-ea"/>
                <a:ea typeface="+mn-ea"/>
              </a:rPr>
              <a:t>F: </a:t>
            </a:r>
            <a:r>
              <a:rPr lang="zh-CN" altLang="en-US" sz="2000" b="1" dirty="0">
                <a:latin typeface="+mn-ea"/>
                <a:ea typeface="+mn-ea"/>
              </a:rPr>
              <a:t>加速指令，接收到该指令，车进入加速状态，该状态下：</a:t>
            </a:r>
          </a:p>
          <a:p>
            <a:pPr marL="638175" lvl="1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+mn-ea"/>
                <a:ea typeface="+mn-ea"/>
              </a:rPr>
              <a:t>M</a:t>
            </a:r>
            <a:r>
              <a:rPr lang="zh-CN" altLang="en-US" sz="1800" dirty="0">
                <a:latin typeface="+mn-ea"/>
                <a:ea typeface="+mn-ea"/>
              </a:rPr>
              <a:t>：前进</a:t>
            </a:r>
            <a:r>
              <a:rPr lang="en-US" altLang="zh-CN" sz="1800" dirty="0">
                <a:latin typeface="+mn-ea"/>
                <a:ea typeface="+mn-ea"/>
              </a:rPr>
              <a:t>2</a:t>
            </a:r>
            <a:r>
              <a:rPr lang="zh-CN" altLang="en-US" sz="1800" dirty="0">
                <a:latin typeface="+mn-ea"/>
                <a:ea typeface="+mn-ea"/>
              </a:rPr>
              <a:t>格（不能跳跃，只能一格一格前进）</a:t>
            </a:r>
          </a:p>
          <a:p>
            <a:pPr marL="638175" lvl="1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+mn-ea"/>
                <a:ea typeface="+mn-ea"/>
              </a:rPr>
              <a:t>L</a:t>
            </a:r>
            <a:r>
              <a:rPr lang="zh-CN" altLang="en-US" sz="1800" dirty="0">
                <a:latin typeface="+mn-ea"/>
                <a:ea typeface="+mn-ea"/>
              </a:rPr>
              <a:t>：先前进</a:t>
            </a:r>
            <a:r>
              <a:rPr lang="en-US" altLang="zh-CN" sz="1800" dirty="0">
                <a:latin typeface="+mn-ea"/>
                <a:ea typeface="+mn-ea"/>
              </a:rPr>
              <a:t>1</a:t>
            </a:r>
            <a:r>
              <a:rPr lang="zh-CN" altLang="en-US" sz="1800" dirty="0">
                <a:latin typeface="+mn-ea"/>
                <a:ea typeface="+mn-ea"/>
              </a:rPr>
              <a:t>格，然后左转</a:t>
            </a:r>
            <a:r>
              <a:rPr lang="en-US" altLang="zh-CN" sz="1800" dirty="0">
                <a:latin typeface="+mn-ea"/>
                <a:ea typeface="+mn-ea"/>
              </a:rPr>
              <a:t>90</a:t>
            </a:r>
            <a:r>
              <a:rPr lang="zh-CN" altLang="en-US" sz="1800" dirty="0">
                <a:latin typeface="+mn-ea"/>
                <a:ea typeface="+mn-ea"/>
              </a:rPr>
              <a:t>度</a:t>
            </a:r>
          </a:p>
          <a:p>
            <a:pPr marL="638175" lvl="1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+mn-ea"/>
                <a:ea typeface="+mn-ea"/>
              </a:rPr>
              <a:t>R</a:t>
            </a:r>
            <a:r>
              <a:rPr lang="zh-CN" altLang="en-US" sz="1800" dirty="0">
                <a:latin typeface="+mn-ea"/>
                <a:ea typeface="+mn-ea"/>
              </a:rPr>
              <a:t>：先前进</a:t>
            </a:r>
            <a:r>
              <a:rPr lang="en-US" altLang="zh-CN" sz="1800" dirty="0">
                <a:latin typeface="+mn-ea"/>
                <a:ea typeface="+mn-ea"/>
              </a:rPr>
              <a:t>1</a:t>
            </a:r>
            <a:r>
              <a:rPr lang="zh-CN" altLang="en-US" sz="1800" dirty="0">
                <a:latin typeface="+mn-ea"/>
                <a:ea typeface="+mn-ea"/>
              </a:rPr>
              <a:t>格，然后右转</a:t>
            </a:r>
            <a:r>
              <a:rPr lang="en-US" altLang="zh-CN" sz="1800" dirty="0">
                <a:latin typeface="+mn-ea"/>
                <a:ea typeface="+mn-ea"/>
              </a:rPr>
              <a:t>90</a:t>
            </a:r>
            <a:r>
              <a:rPr lang="zh-CN" altLang="en-US" sz="1800" dirty="0">
                <a:latin typeface="+mn-ea"/>
                <a:ea typeface="+mn-ea"/>
              </a:rPr>
              <a:t>度</a:t>
            </a:r>
            <a:endParaRPr lang="en-US" altLang="zh-CN" sz="1800" dirty="0">
              <a:latin typeface="+mn-ea"/>
              <a:ea typeface="+mn-ea"/>
            </a:endParaRPr>
          </a:p>
          <a:p>
            <a:pPr marL="0" indent="0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方正兰亭黑简体" panose="02000000000000000000" pitchFamily="2" charset="-122"/>
              </a:rPr>
              <a:t>B</a:t>
            </a:r>
            <a:r>
              <a:rPr lang="zh-CN" altLang="en-US" sz="1800" b="1" dirty="0">
                <a:latin typeface="方正兰亭黑简体" panose="02000000000000000000" pitchFamily="2" charset="-122"/>
              </a:rPr>
              <a:t>和</a:t>
            </a:r>
            <a:r>
              <a:rPr lang="en-US" altLang="zh-CN" sz="1800" b="1" dirty="0">
                <a:latin typeface="方正兰亭黑简体" panose="02000000000000000000" pitchFamily="2" charset="-122"/>
              </a:rPr>
              <a:t>F</a:t>
            </a:r>
            <a:r>
              <a:rPr lang="zh-CN" altLang="en-US" sz="1800" b="1" dirty="0">
                <a:latin typeface="方正兰亭黑简体" panose="02000000000000000000" pitchFamily="2" charset="-122"/>
              </a:rPr>
              <a:t>两个状态可以叠加，叠加状态下：</a:t>
            </a:r>
          </a:p>
          <a:p>
            <a:pPr marL="638175" lvl="1" indent="-285750" defTabSz="914034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兰亭黑简体" panose="02000000000000000000" pitchFamily="2" charset="-122"/>
              </a:rPr>
              <a:t>M</a:t>
            </a:r>
            <a:r>
              <a:rPr lang="zh-CN" altLang="en-US" sz="1600" dirty="0">
                <a:latin typeface="方正兰亭黑简体" panose="02000000000000000000" pitchFamily="2" charset="-122"/>
              </a:rPr>
              <a:t>：倒退</a:t>
            </a:r>
            <a:r>
              <a:rPr lang="en-US" altLang="zh-CN" sz="1600" dirty="0">
                <a:latin typeface="方正兰亭黑简体" panose="02000000000000000000" pitchFamily="2" charset="-122"/>
              </a:rPr>
              <a:t>2</a:t>
            </a:r>
            <a:r>
              <a:rPr lang="zh-CN" altLang="en-US" sz="1600" dirty="0">
                <a:latin typeface="方正兰亭黑简体" panose="02000000000000000000" pitchFamily="2" charset="-122"/>
              </a:rPr>
              <a:t>格（不能跳跃，只能一格一格后退）</a:t>
            </a:r>
          </a:p>
          <a:p>
            <a:pPr marL="638175" lvl="1" indent="-285750" defTabSz="914034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兰亭黑简体" panose="02000000000000000000" pitchFamily="2" charset="-122"/>
              </a:rPr>
              <a:t>L</a:t>
            </a:r>
            <a:r>
              <a:rPr lang="zh-CN" altLang="en-US" sz="1600" dirty="0">
                <a:latin typeface="方正兰亭黑简体" panose="02000000000000000000" pitchFamily="2" charset="-122"/>
              </a:rPr>
              <a:t>：先倒退一格，然后右转</a:t>
            </a:r>
            <a:r>
              <a:rPr lang="en-US" altLang="zh-CN" sz="1600" dirty="0">
                <a:latin typeface="方正兰亭黑简体" panose="02000000000000000000" pitchFamily="2" charset="-122"/>
              </a:rPr>
              <a:t>90</a:t>
            </a:r>
            <a:r>
              <a:rPr lang="zh-CN" altLang="en-US" sz="1600" dirty="0">
                <a:latin typeface="方正兰亭黑简体" panose="02000000000000000000" pitchFamily="2" charset="-122"/>
              </a:rPr>
              <a:t>度</a:t>
            </a:r>
          </a:p>
          <a:p>
            <a:pPr marL="638175" lvl="1" indent="-285750" defTabSz="914034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兰亭黑简体" panose="02000000000000000000" pitchFamily="2" charset="-122"/>
              </a:rPr>
              <a:t>R</a:t>
            </a:r>
            <a:r>
              <a:rPr lang="zh-CN" altLang="en-US" sz="1600" dirty="0">
                <a:latin typeface="方正兰亭黑简体" panose="02000000000000000000" pitchFamily="2" charset="-122"/>
              </a:rPr>
              <a:t>：先倒退一格，然后左转</a:t>
            </a:r>
            <a:r>
              <a:rPr lang="en-US" altLang="zh-CN" sz="1600" dirty="0">
                <a:latin typeface="方正兰亭黑简体" panose="02000000000000000000" pitchFamily="2" charset="-122"/>
              </a:rPr>
              <a:t>90</a:t>
            </a:r>
            <a:r>
              <a:rPr lang="zh-CN" altLang="en-US" sz="1600" dirty="0">
                <a:latin typeface="方正兰亭黑简体" panose="02000000000000000000" pitchFamily="2" charset="-122"/>
              </a:rPr>
              <a:t>度</a:t>
            </a:r>
            <a:endParaRPr lang="en-US" altLang="zh-CN" sz="1800" dirty="0">
              <a:latin typeface="+mn-ea"/>
              <a:ea typeface="+mn-ea"/>
            </a:endParaRPr>
          </a:p>
          <a:p>
            <a:pPr marL="0" lvl="1" indent="0">
              <a:spcBef>
                <a:spcPts val="600"/>
              </a:spcBef>
              <a:buNone/>
            </a:pPr>
            <a:r>
              <a:rPr lang="zh-CN" altLang="en-US" sz="1800" b="1" dirty="0">
                <a:latin typeface="方正兰亭黑简体" panose="02000000000000000000" pitchFamily="2" charset="-122"/>
              </a:rPr>
              <a:t>再接收一次</a:t>
            </a:r>
            <a:r>
              <a:rPr lang="en-US" altLang="zh-CN" sz="1800" b="1" dirty="0">
                <a:latin typeface="方正兰亭黑简体" panose="02000000000000000000" pitchFamily="2" charset="-122"/>
              </a:rPr>
              <a:t>F</a:t>
            </a:r>
            <a:r>
              <a:rPr lang="zh-CN" altLang="en-US" sz="1800" b="1" dirty="0">
                <a:latin typeface="方正兰亭黑简体" panose="02000000000000000000" pitchFamily="2" charset="-122"/>
              </a:rPr>
              <a:t>指令，对应的状态取消</a:t>
            </a:r>
          </a:p>
          <a:p>
            <a:pPr marL="638175" lvl="1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sz="1600" dirty="0">
              <a:latin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1860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8733E4-405A-4AA7-AC49-FE0AC5592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F</a:t>
            </a:r>
            <a:r>
              <a:rPr lang="zh-CN" altLang="en-US" dirty="0">
                <a:latin typeface="+mn-ea"/>
                <a:ea typeface="+mn-ea"/>
              </a:rPr>
              <a:t>指令对指令处理结构的扩展性诉求分析</a:t>
            </a:r>
            <a:endParaRPr lang="zh-CN" altLang="en-US" dirty="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EE37F534-612C-46B4-BD0A-263B9E364384}"/>
              </a:ext>
            </a:extLst>
          </p:cNvPr>
          <p:cNvSpPr txBox="1">
            <a:spLocks/>
          </p:cNvSpPr>
          <p:nvPr/>
        </p:nvSpPr>
        <p:spPr>
          <a:xfrm>
            <a:off x="4251350" y="992361"/>
            <a:ext cx="6606823" cy="987701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zh-CN" altLang="en-US" sz="1600" dirty="0">
                <a:latin typeface="方正兰亭黑简体" panose="02000000000000000000" pitchFamily="2" charset="-122"/>
              </a:rPr>
              <a:t>通过</a:t>
            </a:r>
            <a:r>
              <a:rPr lang="en-US" altLang="zh-CN" sz="1600" dirty="0">
                <a:latin typeface="方正兰亭黑简体" panose="02000000000000000000" pitchFamily="2" charset="-122"/>
              </a:rPr>
              <a:t>action</a:t>
            </a:r>
            <a:r>
              <a:rPr lang="zh-CN" altLang="en-US" sz="1600" dirty="0">
                <a:latin typeface="方正兰亭黑简体" panose="02000000000000000000" pitchFamily="2" charset="-122"/>
              </a:rPr>
              <a:t>抽取，完成了指令处理结构的建立</a:t>
            </a:r>
            <a:endParaRPr lang="en-US" altLang="zh-CN" sz="1600" dirty="0">
              <a:latin typeface="方正兰亭黑简体" panose="02000000000000000000" pitchFamily="2" charset="-122"/>
            </a:endParaRPr>
          </a:p>
          <a:p>
            <a:pPr marL="285750" indent="-285750">
              <a:lnSpc>
                <a:spcPct val="150000"/>
              </a:lnSpc>
            </a:pPr>
            <a:r>
              <a:rPr lang="en-US" altLang="zh-CN" sz="1600" dirty="0">
                <a:latin typeface="方正兰亭黑简体" panose="02000000000000000000" pitchFamily="2" charset="-122"/>
              </a:rPr>
              <a:t>F</a:t>
            </a:r>
            <a:r>
              <a:rPr lang="zh-CN" altLang="en-US" sz="1600" dirty="0">
                <a:latin typeface="方正兰亭黑简体" panose="02000000000000000000" pitchFamily="2" charset="-122"/>
              </a:rPr>
              <a:t>指令的处理，依然需要修改指令处理主干逻辑，同时圈复杂度增加</a:t>
            </a:r>
            <a:endParaRPr lang="en-US" altLang="zh-CN" sz="1600" dirty="0">
              <a:latin typeface="方正兰亭黑简体" panose="02000000000000000000" pitchFamily="2" charset="-122"/>
            </a:endParaRP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25B44571-004F-4121-A3B2-21F42F036625}"/>
              </a:ext>
            </a:extLst>
          </p:cNvPr>
          <p:cNvSpPr txBox="1">
            <a:spLocks/>
          </p:cNvSpPr>
          <p:nvPr/>
        </p:nvSpPr>
        <p:spPr>
          <a:xfrm>
            <a:off x="539926" y="5754519"/>
            <a:ext cx="10920237" cy="497095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zh-CN" altLang="en-US" sz="1600" dirty="0">
                <a:latin typeface="方正兰亭黑简体" panose="02000000000000000000" pitchFamily="2" charset="-122"/>
              </a:rPr>
              <a:t>重复代码也在不断涌现</a:t>
            </a:r>
            <a:endParaRPr lang="en-US" altLang="zh-CN" sz="1600" dirty="0">
              <a:latin typeface="方正兰亭黑简体" panose="02000000000000000000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45BE90C-61DA-486F-87F7-CC513FF00426}"/>
              </a:ext>
            </a:extLst>
          </p:cNvPr>
          <p:cNvSpPr txBox="1"/>
          <p:nvPr/>
        </p:nvSpPr>
        <p:spPr>
          <a:xfrm>
            <a:off x="614178" y="1189925"/>
            <a:ext cx="3535362" cy="44781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5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u="sng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&amp;</a:t>
            </a:r>
            <a:r>
              <a:rPr lang="en-US" altLang="zh-CN" sz="1500" b="1" dirty="0">
                <a:solidFill>
                  <a:srgbClr val="7A3E9D"/>
                </a:solidFill>
                <a:effectLst/>
              </a:rPr>
              <a:t>str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in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1" dirty="0" err="1">
                <a:solidFill>
                  <a:srgbClr val="AA3731"/>
                </a:solidFill>
                <a:effectLst/>
              </a:rPr>
              <a:t>chars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500" b="0" dirty="0">
                <a:solidFill>
                  <a:srgbClr val="448C27"/>
                </a:solidFill>
                <a:effectLst/>
              </a:rPr>
              <a:t>'M'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is_fast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500" b="0" dirty="0">
                <a:solidFill>
                  <a:srgbClr val="9C5D27"/>
                </a:solidFill>
                <a:effectLst/>
              </a:rPr>
              <a:t>-1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5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500" b="0" dirty="0">
                <a:solidFill>
                  <a:srgbClr val="333333"/>
                </a:solidFill>
                <a:effectLst/>
              </a:rPr>
            </a:br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500" b="0" dirty="0">
                <a:solidFill>
                  <a:srgbClr val="9C5D27"/>
                </a:solidFill>
                <a:effectLst/>
              </a:rPr>
              <a:t>-1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5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E24EC7-B330-4F4B-BD15-E076D37309BA}"/>
              </a:ext>
            </a:extLst>
          </p:cNvPr>
          <p:cNvSpPr txBox="1"/>
          <p:nvPr/>
        </p:nvSpPr>
        <p:spPr>
          <a:xfrm>
            <a:off x="4301507" y="2113255"/>
            <a:ext cx="3564466" cy="35548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500" b="0" dirty="0">
                <a:solidFill>
                  <a:srgbClr val="448C27"/>
                </a:solidFill>
                <a:effectLst/>
              </a:rPr>
              <a:t>'L'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is_fast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500" b="0" dirty="0">
                <a:solidFill>
                  <a:srgbClr val="9C5D27"/>
                </a:solidFill>
                <a:effectLst/>
              </a:rPr>
              <a:t>-1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5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500" b="0" dirty="0">
                <a:solidFill>
                  <a:srgbClr val="333333"/>
                </a:solidFill>
                <a:effectLst/>
              </a:rPr>
            </a:br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u="sng" dirty="0" err="1">
                <a:solidFill>
                  <a:srgbClr val="AA3731"/>
                </a:solidFill>
                <a:effectLst/>
              </a:rPr>
              <a:t>turn_right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()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u="sng" dirty="0" err="1">
                <a:solidFill>
                  <a:srgbClr val="AA3731"/>
                </a:solidFill>
                <a:effectLst/>
              </a:rPr>
              <a:t>turn_left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()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EC00EE-DADE-4A27-9461-DA8552D55700}"/>
              </a:ext>
            </a:extLst>
          </p:cNvPr>
          <p:cNvSpPr txBox="1"/>
          <p:nvPr/>
        </p:nvSpPr>
        <p:spPr>
          <a:xfrm>
            <a:off x="8017940" y="2109739"/>
            <a:ext cx="3442223" cy="35548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500" b="0" dirty="0">
                <a:solidFill>
                  <a:srgbClr val="448C27"/>
                </a:solidFill>
                <a:effectLst/>
              </a:rPr>
              <a:t>'R'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is_fast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500" b="0" dirty="0">
                <a:solidFill>
                  <a:srgbClr val="9C5D27"/>
                </a:solidFill>
                <a:effectLst/>
              </a:rPr>
              <a:t>-1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5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500" b="0" dirty="0">
                <a:solidFill>
                  <a:srgbClr val="333333"/>
                </a:solidFill>
                <a:effectLst/>
              </a:rPr>
            </a:br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u="sng" dirty="0" err="1">
                <a:solidFill>
                  <a:srgbClr val="AA3731"/>
                </a:solidFill>
                <a:effectLst/>
              </a:rPr>
              <a:t>turn_left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()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5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5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5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500" b="0" u="sng" dirty="0" err="1">
                <a:solidFill>
                  <a:srgbClr val="AA3731"/>
                </a:solidFill>
                <a:effectLst/>
              </a:rPr>
              <a:t>turn_right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()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5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5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2" name="圆角矩形 13">
            <a:extLst>
              <a:ext uri="{FF2B5EF4-FFF2-40B4-BE49-F238E27FC236}">
                <a16:creationId xmlns:a16="http://schemas.microsoft.com/office/drawing/2014/main" id="{0936D2E6-E856-4466-B6D6-8C47BA1D074E}"/>
              </a:ext>
            </a:extLst>
          </p:cNvPr>
          <p:cNvSpPr/>
          <p:nvPr/>
        </p:nvSpPr>
        <p:spPr bwMode="auto">
          <a:xfrm>
            <a:off x="1537216" y="2332913"/>
            <a:ext cx="2479199" cy="155701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22" name="圆角矩形 13">
            <a:extLst>
              <a:ext uri="{FF2B5EF4-FFF2-40B4-BE49-F238E27FC236}">
                <a16:creationId xmlns:a16="http://schemas.microsoft.com/office/drawing/2014/main" id="{17414F10-52BE-44F4-92D8-D8C36303B6ED}"/>
              </a:ext>
            </a:extLst>
          </p:cNvPr>
          <p:cNvSpPr/>
          <p:nvPr/>
        </p:nvSpPr>
        <p:spPr bwMode="auto">
          <a:xfrm>
            <a:off x="4525414" y="2332913"/>
            <a:ext cx="2479199" cy="155701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23" name="圆角矩形 13">
            <a:extLst>
              <a:ext uri="{FF2B5EF4-FFF2-40B4-BE49-F238E27FC236}">
                <a16:creationId xmlns:a16="http://schemas.microsoft.com/office/drawing/2014/main" id="{785A1DCD-D2EA-4F82-A3D0-4CDBEE83106B}"/>
              </a:ext>
            </a:extLst>
          </p:cNvPr>
          <p:cNvSpPr/>
          <p:nvPr/>
        </p:nvSpPr>
        <p:spPr bwMode="auto">
          <a:xfrm>
            <a:off x="8175585" y="2366729"/>
            <a:ext cx="2479199" cy="155701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870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2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437F63-0A2A-4BAB-A194-F041B745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9" y="447468"/>
            <a:ext cx="4663122" cy="485982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解决方案：任务编排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A6AD6A-A462-4E18-AE51-D1BDFA33EB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47751"/>
            <a:ext cx="10728326" cy="4179005"/>
          </a:xfrm>
        </p:spPr>
        <p:txBody>
          <a:bodyPr/>
          <a:lstStyle/>
          <a:p>
            <a:pPr marL="447441" indent="-342900"/>
            <a:r>
              <a:rPr lang="zh-CN" altLang="en-US" sz="2000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原子操作的组合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</a:t>
            </a:r>
            <a:endParaRPr lang="en-US" altLang="zh-CN" sz="20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marL="800100" lvl="1" indent="-342900"/>
            <a:r>
              <a:rPr lang="en-US" altLang="zh-CN" sz="1800" dirty="0">
                <a:solidFill>
                  <a:srgbClr val="111111"/>
                </a:solidFill>
                <a:latin typeface="+mn-ea"/>
                <a:ea typeface="+mn-ea"/>
              </a:rPr>
              <a:t>MLR</a:t>
            </a:r>
            <a:r>
              <a:rPr lang="zh-CN" altLang="en-US" sz="18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指令</a:t>
            </a:r>
            <a:r>
              <a:rPr lang="zh-CN" altLang="en-US" sz="1800" dirty="0">
                <a:solidFill>
                  <a:srgbClr val="111111"/>
                </a:solidFill>
                <a:latin typeface="+mn-ea"/>
                <a:ea typeface="+mn-ea"/>
              </a:rPr>
              <a:t>在加速状态下</a:t>
            </a:r>
            <a:r>
              <a:rPr lang="zh-CN" altLang="en-US" sz="18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由多个操作组成。在执行过程中，这些操作按照预定义的顺序依次执行，完成复杂的业务任务</a:t>
            </a:r>
          </a:p>
          <a:p>
            <a:pPr marL="447441" indent="-342900"/>
            <a:r>
              <a:rPr lang="zh-CN" altLang="en-US" sz="2000" b="1" dirty="0">
                <a:latin typeface="+mn-ea"/>
                <a:ea typeface="+mn-ea"/>
              </a:rPr>
              <a:t>生成指令的过程与指令的实际执行是分离的：</a:t>
            </a:r>
            <a:endParaRPr lang="en-US" altLang="zh-CN" sz="2000" dirty="0">
              <a:latin typeface="+mn-ea"/>
              <a:ea typeface="+mn-ea"/>
            </a:endParaRPr>
          </a:p>
          <a:p>
            <a:pPr lvl="1"/>
            <a:r>
              <a:rPr lang="zh-CN" altLang="en-US" sz="1800" dirty="0">
                <a:latin typeface="+mn-ea"/>
              </a:rPr>
              <a:t>这意味着，生成指令的模块可以专注于任务的规划和定义，而不需要关心指令的具体执行细节</a:t>
            </a:r>
            <a:endParaRPr lang="en-US" altLang="zh-CN" sz="1800" dirty="0">
              <a:latin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增强可靠性：</a:t>
            </a:r>
            <a:endParaRPr lang="en-US" altLang="zh-CN" sz="2000" b="1" dirty="0">
              <a:latin typeface="+mn-ea"/>
              <a:ea typeface="+mn-ea"/>
            </a:endParaRPr>
          </a:p>
          <a:p>
            <a:pPr lvl="1"/>
            <a:r>
              <a:rPr lang="zh-CN" altLang="en-US" sz="1800" dirty="0">
                <a:latin typeface="+mn-ea"/>
                <a:ea typeface="+mn-ea"/>
              </a:rPr>
              <a:t>企业软件开发中，可能会有某些操作失败。为确保系统能够有效地处理这些失败情况，通过重试、回滚或补偿机制，保证业务流程的完整性和一致性</a:t>
            </a:r>
            <a:endParaRPr lang="en-US" altLang="zh-CN" sz="1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3992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原子指令抽象：识别基本操作</a:t>
            </a:r>
          </a:p>
        </p:txBody>
      </p:sp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00784AE9-3D27-4110-95DC-1CCE926E6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622335"/>
              </p:ext>
            </p:extLst>
          </p:nvPr>
        </p:nvGraphicFramePr>
        <p:xfrm>
          <a:off x="812931" y="1160088"/>
          <a:ext cx="10539885" cy="3919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025">
                  <a:extLst>
                    <a:ext uri="{9D8B030D-6E8A-4147-A177-3AD203B41FA5}">
                      <a16:colId xmlns:a16="http://schemas.microsoft.com/office/drawing/2014/main" val="878355373"/>
                    </a:ext>
                  </a:extLst>
                </a:gridCol>
                <a:gridCol w="1207911">
                  <a:extLst>
                    <a:ext uri="{9D8B030D-6E8A-4147-A177-3AD203B41FA5}">
                      <a16:colId xmlns:a16="http://schemas.microsoft.com/office/drawing/2014/main" val="486997657"/>
                    </a:ext>
                  </a:extLst>
                </a:gridCol>
                <a:gridCol w="2393244">
                  <a:extLst>
                    <a:ext uri="{9D8B030D-6E8A-4147-A177-3AD203B41FA5}">
                      <a16:colId xmlns:a16="http://schemas.microsoft.com/office/drawing/2014/main" val="761900433"/>
                    </a:ext>
                  </a:extLst>
                </a:gridCol>
                <a:gridCol w="2686756">
                  <a:extLst>
                    <a:ext uri="{9D8B030D-6E8A-4147-A177-3AD203B41FA5}">
                      <a16:colId xmlns:a16="http://schemas.microsoft.com/office/drawing/2014/main" val="1219348066"/>
                    </a:ext>
                  </a:extLst>
                </a:gridCol>
                <a:gridCol w="1429918">
                  <a:extLst>
                    <a:ext uri="{9D8B030D-6E8A-4147-A177-3AD203B41FA5}">
                      <a16:colId xmlns:a16="http://schemas.microsoft.com/office/drawing/2014/main" val="2687982129"/>
                    </a:ext>
                  </a:extLst>
                </a:gridCol>
                <a:gridCol w="1761031">
                  <a:extLst>
                    <a:ext uri="{9D8B030D-6E8A-4147-A177-3AD203B41FA5}">
                      <a16:colId xmlns:a16="http://schemas.microsoft.com/office/drawing/2014/main" val="4115430178"/>
                    </a:ext>
                  </a:extLst>
                </a:gridCol>
              </a:tblGrid>
              <a:tr h="747218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  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M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L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R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B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F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795365"/>
                  </a:ext>
                </a:extLst>
              </a:tr>
              <a:tr h="497227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正常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移动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(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前进一格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)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左转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90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右转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90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设置倒车状态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设置加速状态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972596"/>
                  </a:ext>
                </a:extLst>
              </a:tr>
              <a:tr h="463103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倒车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移动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(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后退一格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)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右转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90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度（反左转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90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度）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左转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90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度（反右转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90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度）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endParaRPr lang="zh-CN" altLang="en-US" sz="16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endParaRPr lang="zh-CN" altLang="en-US" sz="16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529747"/>
                  </a:ext>
                </a:extLst>
              </a:tr>
              <a:tr h="812542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加速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前进一格、</a:t>
                      </a:r>
                      <a:endParaRPr lang="en-US" altLang="zh-CN" sz="16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前进一格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前进一格、</a:t>
                      </a:r>
                      <a:endParaRPr lang="en-US" altLang="zh-CN" sz="16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左转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90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前进一格，右转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90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endParaRPr lang="zh-CN" altLang="en-US" sz="16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endParaRPr lang="zh-CN" altLang="en-US" sz="16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021860"/>
                  </a:ext>
                </a:extLst>
              </a:tr>
              <a:tr h="463103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加速倒车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后退一格、</a:t>
                      </a:r>
                      <a:endParaRPr lang="en-US" altLang="zh-CN" sz="16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后退一格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后退一格、</a:t>
                      </a:r>
                      <a:endParaRPr lang="en-US" altLang="zh-CN" sz="16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右转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90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度（反左转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90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度）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后退一格、</a:t>
                      </a:r>
                      <a:endParaRPr lang="en-US" altLang="zh-CN" sz="16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左转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90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度（反右转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90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度）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endParaRPr lang="zh-CN" altLang="en-US" sz="16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endParaRPr lang="zh-CN" altLang="en-US" sz="16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062312"/>
                  </a:ext>
                </a:extLst>
              </a:tr>
            </a:tbl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668A47D-CF3D-41B4-9010-0702DA010A78}"/>
              </a:ext>
            </a:extLst>
          </p:cNvPr>
          <p:cNvCxnSpPr>
            <a:cxnSpLocks/>
          </p:cNvCxnSpPr>
          <p:nvPr/>
        </p:nvCxnSpPr>
        <p:spPr>
          <a:xfrm>
            <a:off x="839185" y="1193956"/>
            <a:ext cx="1012714" cy="693904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758FF6D-3FFD-454A-AC87-DF2057E0CEB4}"/>
              </a:ext>
            </a:extLst>
          </p:cNvPr>
          <p:cNvSpPr txBox="1"/>
          <p:nvPr/>
        </p:nvSpPr>
        <p:spPr>
          <a:xfrm>
            <a:off x="711192" y="1529321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状态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054C369-8C7F-44A9-A3A4-2517247AC740}"/>
              </a:ext>
            </a:extLst>
          </p:cNvPr>
          <p:cNvSpPr txBox="1"/>
          <p:nvPr/>
        </p:nvSpPr>
        <p:spPr>
          <a:xfrm>
            <a:off x="1150213" y="1130806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  <p:sp>
        <p:nvSpPr>
          <p:cNvPr id="16" name="圆角矩形 13">
            <a:extLst>
              <a:ext uri="{FF2B5EF4-FFF2-40B4-BE49-F238E27FC236}">
                <a16:creationId xmlns:a16="http://schemas.microsoft.com/office/drawing/2014/main" id="{A2E4258D-0412-460B-BB94-071773AA632D}"/>
              </a:ext>
            </a:extLst>
          </p:cNvPr>
          <p:cNvSpPr/>
          <p:nvPr/>
        </p:nvSpPr>
        <p:spPr bwMode="auto">
          <a:xfrm>
            <a:off x="1936520" y="1983098"/>
            <a:ext cx="1048920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1" name="圆角矩形 13">
            <a:extLst>
              <a:ext uri="{FF2B5EF4-FFF2-40B4-BE49-F238E27FC236}">
                <a16:creationId xmlns:a16="http://schemas.microsoft.com/office/drawing/2014/main" id="{38460E24-0F7D-499A-9DCA-B32664A7195C}"/>
              </a:ext>
            </a:extLst>
          </p:cNvPr>
          <p:cNvSpPr/>
          <p:nvPr/>
        </p:nvSpPr>
        <p:spPr bwMode="auto">
          <a:xfrm>
            <a:off x="1908343" y="2960513"/>
            <a:ext cx="1059248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2" name="圆角矩形 13">
            <a:extLst>
              <a:ext uri="{FF2B5EF4-FFF2-40B4-BE49-F238E27FC236}">
                <a16:creationId xmlns:a16="http://schemas.microsoft.com/office/drawing/2014/main" id="{4A6A40A1-1060-48A2-BEED-24448B7DF960}"/>
              </a:ext>
            </a:extLst>
          </p:cNvPr>
          <p:cNvSpPr/>
          <p:nvPr/>
        </p:nvSpPr>
        <p:spPr bwMode="auto">
          <a:xfrm>
            <a:off x="3124198" y="1990986"/>
            <a:ext cx="1048920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8" name="圆角矩形 13">
            <a:extLst>
              <a:ext uri="{FF2B5EF4-FFF2-40B4-BE49-F238E27FC236}">
                <a16:creationId xmlns:a16="http://schemas.microsoft.com/office/drawing/2014/main" id="{EA82F72A-9E43-4A50-A445-EEEB654B0669}"/>
              </a:ext>
            </a:extLst>
          </p:cNvPr>
          <p:cNvSpPr/>
          <p:nvPr/>
        </p:nvSpPr>
        <p:spPr bwMode="auto">
          <a:xfrm>
            <a:off x="5558413" y="1990127"/>
            <a:ext cx="1048920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30" name="圆角矩形 13">
            <a:extLst>
              <a:ext uri="{FF2B5EF4-FFF2-40B4-BE49-F238E27FC236}">
                <a16:creationId xmlns:a16="http://schemas.microsoft.com/office/drawing/2014/main" id="{86EF98C3-B3C9-48F0-926B-4B12555004EE}"/>
              </a:ext>
            </a:extLst>
          </p:cNvPr>
          <p:cNvSpPr/>
          <p:nvPr/>
        </p:nvSpPr>
        <p:spPr bwMode="auto">
          <a:xfrm>
            <a:off x="8235802" y="1974973"/>
            <a:ext cx="1224287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31" name="圆角矩形 13">
            <a:extLst>
              <a:ext uri="{FF2B5EF4-FFF2-40B4-BE49-F238E27FC236}">
                <a16:creationId xmlns:a16="http://schemas.microsoft.com/office/drawing/2014/main" id="{842C4A1F-5A5E-4DD7-BE5A-63E94D466D50}"/>
              </a:ext>
            </a:extLst>
          </p:cNvPr>
          <p:cNvSpPr/>
          <p:nvPr/>
        </p:nvSpPr>
        <p:spPr bwMode="auto">
          <a:xfrm>
            <a:off x="9660484" y="1979552"/>
            <a:ext cx="1233819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0CE884-FB82-4333-88C4-89A9A07837D1}"/>
              </a:ext>
            </a:extLst>
          </p:cNvPr>
          <p:cNvSpPr txBox="1"/>
          <p:nvPr/>
        </p:nvSpPr>
        <p:spPr>
          <a:xfrm>
            <a:off x="711192" y="5079954"/>
            <a:ext cx="10641624" cy="1343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基本操作可归结为</a:t>
            </a:r>
            <a:r>
              <a:rPr lang="en-US" altLang="zh-CN" sz="2000" dirty="0">
                <a:latin typeface="+mn-ea"/>
              </a:rPr>
              <a:t>2</a:t>
            </a:r>
            <a:r>
              <a:rPr lang="zh-CN" altLang="en-US" sz="2000" dirty="0">
                <a:latin typeface="+mn-ea"/>
              </a:rPr>
              <a:t>个场景：</a:t>
            </a:r>
            <a:endParaRPr lang="en-US" altLang="zh-CN" sz="20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</a:rPr>
              <a:t>控制操作：移动（前进一格、后退一格）、左转</a:t>
            </a:r>
            <a:r>
              <a:rPr lang="en-US" altLang="zh-CN" dirty="0">
                <a:latin typeface="+mn-ea"/>
              </a:rPr>
              <a:t>90</a:t>
            </a:r>
            <a:r>
              <a:rPr lang="zh-CN" altLang="en-US" dirty="0">
                <a:latin typeface="+mn-ea"/>
              </a:rPr>
              <a:t>度、右转</a:t>
            </a:r>
            <a:r>
              <a:rPr lang="en-US" altLang="zh-CN" dirty="0">
                <a:latin typeface="+mn-ea"/>
              </a:rPr>
              <a:t>90</a:t>
            </a:r>
            <a:r>
              <a:rPr lang="zh-CN" altLang="en-US" dirty="0">
                <a:latin typeface="+mn-ea"/>
              </a:rPr>
              <a:t>度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</a:rPr>
              <a:t>状态设置操作：设置倒车状态、设置加速状态</a:t>
            </a:r>
          </a:p>
        </p:txBody>
      </p:sp>
    </p:spTree>
    <p:extLst>
      <p:ext uri="{BB962C8B-B14F-4D97-AF65-F5344CB8AC3E}">
        <p14:creationId xmlns:p14="http://schemas.microsoft.com/office/powerpoint/2010/main" val="169369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  <p:bldP spid="22" grpId="0" animBg="1"/>
      <p:bldP spid="28" grpId="0" animBg="1"/>
      <p:bldP spid="30" grpId="0" animBg="1"/>
      <p:bldP spid="31" grpId="0" animBg="1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5EB624E-B0E5-47E6-999D-F84B0FFE8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679" y="144815"/>
            <a:ext cx="3939614" cy="607497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F345EED-ED1F-4F20-94AE-E831C5781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任务编排：总体设计描述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F049C3-AAC0-427C-AA7A-EC7D0185FB5C}"/>
              </a:ext>
            </a:extLst>
          </p:cNvPr>
          <p:cNvSpPr txBox="1"/>
          <p:nvPr/>
        </p:nvSpPr>
        <p:spPr>
          <a:xfrm>
            <a:off x="722356" y="1233987"/>
            <a:ext cx="5373644" cy="2774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+mn-ea"/>
              </a:rPr>
              <a:t>State</a:t>
            </a:r>
            <a:r>
              <a:rPr lang="zh-CN" altLang="en-US" dirty="0">
                <a:latin typeface="+mn-ea"/>
              </a:rPr>
              <a:t>根据</a:t>
            </a:r>
            <a:r>
              <a:rPr lang="en-US" altLang="zh-CN" dirty="0">
                <a:latin typeface="+mn-ea"/>
              </a:rPr>
              <a:t>B\F</a:t>
            </a:r>
            <a:r>
              <a:rPr lang="zh-CN" altLang="en-US" dirty="0">
                <a:latin typeface="+mn-ea"/>
              </a:rPr>
              <a:t>指令状态，提供</a:t>
            </a:r>
            <a:r>
              <a:rPr lang="en-US" altLang="zh-CN" dirty="0">
                <a:latin typeface="+mn-ea"/>
              </a:rPr>
              <a:t>MLR</a:t>
            </a:r>
            <a:r>
              <a:rPr lang="zh-CN" altLang="en-US" dirty="0">
                <a:latin typeface="+mn-ea"/>
              </a:rPr>
              <a:t>操作指令的编排、执行功能：</a:t>
            </a:r>
            <a:endParaRPr lang="en-US" altLang="zh-CN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+mn-ea"/>
              </a:rPr>
              <a:t>控制操作编排： </a:t>
            </a:r>
            <a:r>
              <a:rPr lang="en-US" altLang="zh-CN" sz="1600" dirty="0">
                <a:latin typeface="+mn-ea"/>
              </a:rPr>
              <a:t>assemble</a:t>
            </a:r>
            <a:r>
              <a:rPr lang="zh-CN" altLang="en-US" sz="1600" dirty="0">
                <a:latin typeface="+mn-ea"/>
              </a:rPr>
              <a:t>根据业务的定义调用</a:t>
            </a:r>
            <a:r>
              <a:rPr lang="en-US" altLang="zh-CN" sz="1600" dirty="0" err="1">
                <a:latin typeface="+mn-ea"/>
              </a:rPr>
              <a:t>move_assemble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 err="1">
                <a:latin typeface="+mn-ea"/>
              </a:rPr>
              <a:t>turn_left_assemble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 err="1">
                <a:latin typeface="+mn-ea"/>
              </a:rPr>
              <a:t>turn_right_assemble</a:t>
            </a:r>
            <a:r>
              <a:rPr lang="zh-CN" altLang="en-US" sz="1600" dirty="0">
                <a:latin typeface="+mn-ea"/>
              </a:rPr>
              <a:t>返回原子操作列表</a:t>
            </a:r>
            <a:endParaRPr lang="en-US" altLang="zh-CN" sz="16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latin typeface="+mn-ea"/>
              </a:rPr>
              <a:t>状态设置操作：</a:t>
            </a:r>
            <a:r>
              <a:rPr lang="en-US" altLang="zh-CN" sz="1600" dirty="0" err="1">
                <a:latin typeface="+mn-ea"/>
              </a:rPr>
              <a:t>be_reverse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 err="1">
                <a:latin typeface="+mn-ea"/>
              </a:rPr>
              <a:t>be_fast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+mn-ea"/>
              </a:rPr>
              <a:t>Action</a:t>
            </a:r>
            <a:r>
              <a:rPr lang="zh-CN" altLang="en-US" dirty="0">
                <a:latin typeface="+mn-ea"/>
              </a:rPr>
              <a:t>定义原子操作枚举值列表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B35260-813C-4B6B-80A8-BD525ABFF295}"/>
              </a:ext>
            </a:extLst>
          </p:cNvPr>
          <p:cNvSpPr txBox="1"/>
          <p:nvPr/>
        </p:nvSpPr>
        <p:spPr>
          <a:xfrm>
            <a:off x="1043120" y="4142691"/>
            <a:ext cx="5052814" cy="12918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98658"/>
                </a:solidFill>
              </a:rPr>
              <a:t>Forward(i32),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98658"/>
                </a:solidFill>
              </a:rPr>
              <a:t>TurnLeft</a:t>
            </a:r>
            <a:r>
              <a:rPr lang="en-US" altLang="zh-CN" dirty="0">
                <a:solidFill>
                  <a:srgbClr val="098658"/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98658"/>
                </a:solidFill>
              </a:rPr>
              <a:t>TurnRight</a:t>
            </a:r>
            <a:endParaRPr lang="en-US" altLang="zh-CN" dirty="0">
              <a:solidFill>
                <a:srgbClr val="0986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2124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71543-CD02-4C60-8EE2-D7F7C4BD0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任务编排实现方案步骤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99AA3B-4B33-45B1-895F-AAF82CD67A57}"/>
              </a:ext>
            </a:extLst>
          </p:cNvPr>
          <p:cNvSpPr txBox="1"/>
          <p:nvPr/>
        </p:nvSpPr>
        <p:spPr>
          <a:xfrm>
            <a:off x="638054" y="1156677"/>
            <a:ext cx="10822110" cy="2442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200" dirty="0">
                <a:latin typeface="+mn-ea"/>
              </a:rPr>
              <a:t>指令的生成与执行分开</a:t>
            </a:r>
            <a:endParaRPr lang="en-US" altLang="zh-CN" sz="22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</a:rPr>
              <a:t>定义原子操作类型</a:t>
            </a:r>
            <a:r>
              <a:rPr lang="en-US" altLang="zh-CN" sz="2000" dirty="0">
                <a:latin typeface="+mn-ea"/>
              </a:rPr>
              <a:t>Action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+mn-ea"/>
              </a:rPr>
              <a:t>MLR</a:t>
            </a:r>
            <a:r>
              <a:rPr lang="zh-CN" altLang="en-US" sz="2000" dirty="0">
                <a:latin typeface="+mn-ea"/>
              </a:rPr>
              <a:t>指令在</a:t>
            </a:r>
            <a:r>
              <a:rPr lang="en-US" altLang="zh-CN" sz="2000" dirty="0">
                <a:latin typeface="+mn-ea"/>
              </a:rPr>
              <a:t>B</a:t>
            </a:r>
            <a:r>
              <a:rPr lang="zh-CN" altLang="en-US" sz="2000" dirty="0">
                <a:latin typeface="+mn-ea"/>
              </a:rPr>
              <a:t>指令状态下的对应操作生成操作序列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+mn-ea"/>
              </a:rPr>
              <a:t>execute</a:t>
            </a:r>
            <a:r>
              <a:rPr lang="zh-CN" altLang="en-US" sz="2000" dirty="0">
                <a:latin typeface="+mn-ea"/>
              </a:rPr>
              <a:t>批量执行操作序列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latin typeface="+mn-ea"/>
              </a:rPr>
              <a:t>MLR</a:t>
            </a:r>
            <a:r>
              <a:rPr lang="zh-CN" altLang="en-US" sz="2200" dirty="0">
                <a:latin typeface="+mn-ea"/>
              </a:rPr>
              <a:t>指令编排支持</a:t>
            </a:r>
            <a:r>
              <a:rPr lang="en-US" altLang="zh-CN" sz="2200" dirty="0">
                <a:latin typeface="+mn-ea"/>
              </a:rPr>
              <a:t>F</a:t>
            </a:r>
            <a:r>
              <a:rPr lang="zh-CN" altLang="en-US" sz="2200" dirty="0">
                <a:latin typeface="+mn-ea"/>
              </a:rPr>
              <a:t>指令状态</a:t>
            </a:r>
          </a:p>
        </p:txBody>
      </p:sp>
    </p:spTree>
    <p:extLst>
      <p:ext uri="{BB962C8B-B14F-4D97-AF65-F5344CB8AC3E}">
        <p14:creationId xmlns:p14="http://schemas.microsoft.com/office/powerpoint/2010/main" val="28966562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0397FE-07B1-4ED0-A165-E4BFE5E2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任务编排：原子指令</a:t>
            </a:r>
            <a:r>
              <a:rPr lang="en-US" altLang="zh-CN" dirty="0"/>
              <a:t>Action</a:t>
            </a:r>
            <a:r>
              <a:rPr lang="zh-CN" altLang="en-US" dirty="0"/>
              <a:t>定义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0BD81A-77CF-4DAD-8E5A-6E5E5FC6E12C}"/>
              </a:ext>
            </a:extLst>
          </p:cNvPr>
          <p:cNvSpPr txBox="1"/>
          <p:nvPr/>
        </p:nvSpPr>
        <p:spPr>
          <a:xfrm>
            <a:off x="731081" y="1617037"/>
            <a:ext cx="6296914" cy="4524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4B69C6"/>
                </a:solidFill>
                <a:effectLst/>
              </a:rPr>
              <a:t>use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777777"/>
                </a:solidFill>
                <a:effectLst/>
              </a:rPr>
              <a:t>#[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derive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Copy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Clone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)]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enum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Forward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i32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TurnLeft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TurnRight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perform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Forward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offset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forward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(*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offset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TurnLeft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turn_left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TurnRight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u="sng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u="sng" dirty="0" err="1">
                <a:solidFill>
                  <a:srgbClr val="AA3731"/>
                </a:solidFill>
                <a:effectLst/>
              </a:rPr>
              <a:t>turn_right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5B7397-6966-4C6A-9AAD-81ED19C7A115}"/>
              </a:ext>
            </a:extLst>
          </p:cNvPr>
          <p:cNvSpPr txBox="1"/>
          <p:nvPr/>
        </p:nvSpPr>
        <p:spPr>
          <a:xfrm>
            <a:off x="731081" y="1106309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action.rs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C3EE3E-F764-4B5F-9CFE-6B10A7243EB0}"/>
              </a:ext>
            </a:extLst>
          </p:cNvPr>
          <p:cNvSpPr txBox="1"/>
          <p:nvPr/>
        </p:nvSpPr>
        <p:spPr>
          <a:xfrm>
            <a:off x="7195880" y="1106309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lib.rs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A73E76-6FB2-48DA-8B11-BAF593060D94}"/>
              </a:ext>
            </a:extLst>
          </p:cNvPr>
          <p:cNvSpPr txBox="1"/>
          <p:nvPr/>
        </p:nvSpPr>
        <p:spPr>
          <a:xfrm>
            <a:off x="7195880" y="1617037"/>
            <a:ext cx="4264283" cy="1815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4B69C6"/>
                </a:solidFill>
                <a:effectLst/>
              </a:rPr>
              <a:t>mod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4B69C6"/>
                </a:solidFill>
                <a:effectLst/>
              </a:rPr>
              <a:t>mod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4B69C6"/>
                </a:solidFill>
                <a:effectLst/>
              </a:rPr>
              <a:t>mod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4B69C6"/>
                </a:solidFill>
                <a:effectLst/>
              </a:rPr>
              <a:t>mod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use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use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1" name="圆角矩形 13">
            <a:extLst>
              <a:ext uri="{FF2B5EF4-FFF2-40B4-BE49-F238E27FC236}">
                <a16:creationId xmlns:a16="http://schemas.microsoft.com/office/drawing/2014/main" id="{F000F0A3-DE35-43BE-BE18-01914C02250D}"/>
              </a:ext>
            </a:extLst>
          </p:cNvPr>
          <p:cNvSpPr/>
          <p:nvPr/>
        </p:nvSpPr>
        <p:spPr bwMode="auto">
          <a:xfrm>
            <a:off x="7195880" y="1633968"/>
            <a:ext cx="1359102" cy="304734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74703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1E25ED-9AAF-4D52-AFC4-2B6E16C9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106679"/>
            <a:ext cx="10728325" cy="497095"/>
          </a:xfrm>
        </p:spPr>
        <p:txBody>
          <a:bodyPr/>
          <a:lstStyle/>
          <a:p>
            <a:r>
              <a:rPr lang="zh-CN" altLang="en-US" dirty="0"/>
              <a:t>任务编排：</a:t>
            </a:r>
            <a:r>
              <a:rPr lang="en-US" altLang="zh-CN" dirty="0"/>
              <a:t>State</a:t>
            </a:r>
            <a:r>
              <a:rPr lang="zh-CN" altLang="en-US" dirty="0"/>
              <a:t>实现原子指令序列生成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FFE298-3507-4AC9-889B-A1CFF40248A1}"/>
              </a:ext>
            </a:extLst>
          </p:cNvPr>
          <p:cNvSpPr txBox="1"/>
          <p:nvPr/>
        </p:nvSpPr>
        <p:spPr>
          <a:xfrm>
            <a:off x="677334" y="603269"/>
            <a:ext cx="5035838" cy="56938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4B69C6"/>
                </a:solidFill>
                <a:effectLst/>
              </a:rPr>
              <a:t>use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super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…</a:t>
            </a:r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 err="1">
                <a:solidFill>
                  <a:srgbClr val="AA3731"/>
                </a:solidFill>
                <a:effectLst/>
              </a:rPr>
              <a:t>be_reverse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!</a:t>
            </a:r>
            <a:r>
              <a:rPr lang="en-US" altLang="zh-CN" sz="1400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crate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assemble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char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Vec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'M'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move_assemble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'L'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turn_left_assemble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'R'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turn_right_assemble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Vec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move_assemble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Vec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A3E9D"/>
                </a:solidFill>
                <a:effectLst/>
              </a:rPr>
              <a:t>actions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Vec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direction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-1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Forward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direction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u="sng" dirty="0" err="1">
                <a:solidFill>
                  <a:srgbClr val="7A3E9D"/>
                </a:solidFill>
                <a:effectLst/>
              </a:rPr>
              <a:t>actions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u="sng" dirty="0" err="1">
                <a:solidFill>
                  <a:srgbClr val="AA3731"/>
                </a:solidFill>
                <a:effectLst/>
              </a:rPr>
              <a:t>push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u="sng" dirty="0">
                <a:solidFill>
                  <a:srgbClr val="7A3E9D"/>
                </a:solidFill>
                <a:effectLst/>
              </a:rPr>
              <a:t>actions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564BF5-6069-4D02-975E-A0ACE8B69DA2}"/>
              </a:ext>
            </a:extLst>
          </p:cNvPr>
          <p:cNvSpPr txBox="1"/>
          <p:nvPr/>
        </p:nvSpPr>
        <p:spPr>
          <a:xfrm>
            <a:off x="6096000" y="603269"/>
            <a:ext cx="5418667" cy="56938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turn_left_assemble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Vec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A3E9D"/>
                </a:solidFill>
                <a:effectLst/>
              </a:rPr>
              <a:t>actions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Vec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turn_action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TurnRight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TurnLeft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u="sng" dirty="0" err="1">
                <a:solidFill>
                  <a:srgbClr val="7A3E9D"/>
                </a:solidFill>
                <a:effectLst/>
              </a:rPr>
              <a:t>actions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u="sng" dirty="0" err="1">
                <a:solidFill>
                  <a:srgbClr val="AA3731"/>
                </a:solidFill>
                <a:effectLst/>
              </a:rPr>
              <a:t>push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turn_action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u="sng" dirty="0">
                <a:solidFill>
                  <a:srgbClr val="7A3E9D"/>
                </a:solidFill>
                <a:effectLst/>
              </a:rPr>
              <a:t>actions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turn_right_assemble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Vec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u="sng" dirty="0">
                <a:solidFill>
                  <a:srgbClr val="7A3E9D"/>
                </a:solidFill>
                <a:effectLst/>
              </a:rPr>
              <a:t>actions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Vec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new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turn_action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is_reverse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TurnLeft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TurnRight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u="sng" dirty="0" err="1">
                <a:solidFill>
                  <a:srgbClr val="7A3E9D"/>
                </a:solidFill>
                <a:effectLst/>
              </a:rPr>
              <a:t>actions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u="sng" dirty="0" err="1">
                <a:solidFill>
                  <a:srgbClr val="AA3731"/>
                </a:solidFill>
                <a:effectLst/>
              </a:rPr>
              <a:t>push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turn_action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u="sng" dirty="0">
                <a:solidFill>
                  <a:srgbClr val="7A3E9D"/>
                </a:solidFill>
                <a:effectLst/>
              </a:rPr>
              <a:t>actions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</a:p>
          <a:p>
            <a:r>
              <a:rPr lang="en-US" altLang="zh-CN" sz="1400" dirty="0">
                <a:solidFill>
                  <a:srgbClr val="777777"/>
                </a:solidFill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146564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44031D-8C34-44C7-A2D8-027F20790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任务编排：指令编排后统一执行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0B3B05-BDF5-43F6-BAF7-45CF2D98A02E}"/>
              </a:ext>
            </a:extLst>
          </p:cNvPr>
          <p:cNvSpPr txBox="1"/>
          <p:nvPr/>
        </p:nvSpPr>
        <p:spPr>
          <a:xfrm>
            <a:off x="461109" y="1069603"/>
            <a:ext cx="6662180" cy="4524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 err="1">
                <a:solidFill>
                  <a:srgbClr val="4B69C6"/>
                </a:solidFill>
                <a:effectLst/>
              </a:rPr>
              <a:t>impl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…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br>
              <a:rPr lang="en-US" altLang="zh-CN" b="0" dirty="0">
                <a:solidFill>
                  <a:srgbClr val="333333"/>
                </a:solidFill>
                <a:effectLst/>
              </a:rPr>
            </a:br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pub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4B69C6"/>
                </a:solidFill>
                <a:effectLst/>
              </a:rPr>
              <a:t>fn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&amp;</a:t>
            </a:r>
            <a:r>
              <a:rPr lang="en-US" altLang="zh-CN" b="1" dirty="0">
                <a:solidFill>
                  <a:srgbClr val="7A3E9D"/>
                </a:solidFill>
                <a:effectLst/>
              </a:rPr>
              <a:t>str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in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cmds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1" dirty="0" err="1">
                <a:solidFill>
                  <a:srgbClr val="AA3731"/>
                </a:solidFill>
                <a:effectLst/>
              </a:rPr>
              <a:t>chars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match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b="0" dirty="0">
                <a:solidFill>
                  <a:srgbClr val="448C27"/>
                </a:solidFill>
                <a:effectLst/>
              </a:rPr>
              <a:t>'B'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u="sng" dirty="0" err="1">
                <a:solidFill>
                  <a:srgbClr val="AA3731"/>
                </a:solidFill>
                <a:effectLst/>
              </a:rPr>
              <a:t>be_reverse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(),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_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=&gt;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let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actions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state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1" dirty="0" err="1">
                <a:solidFill>
                  <a:srgbClr val="AA3731"/>
                </a:solidFill>
                <a:effectLst/>
              </a:rPr>
              <a:t>assemble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in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actions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            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action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1" dirty="0" err="1">
                <a:solidFill>
                  <a:srgbClr val="AA3731"/>
                </a:solidFill>
                <a:effectLst/>
              </a:rPr>
              <a:t>perform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(&amp;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mut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u="sng" dirty="0" err="1">
                <a:solidFill>
                  <a:srgbClr val="4B69C6"/>
                </a:solidFill>
                <a:effectLst/>
              </a:rPr>
              <a:t>self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    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A1D975-CB8C-46EC-BEF1-B71DA119E233}"/>
              </a:ext>
            </a:extLst>
          </p:cNvPr>
          <p:cNvSpPr txBox="1"/>
          <p:nvPr/>
        </p:nvSpPr>
        <p:spPr>
          <a:xfrm>
            <a:off x="7258756" y="965108"/>
            <a:ext cx="4472136" cy="21735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练习时间：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MLRB</a:t>
            </a:r>
            <a:r>
              <a:rPr lang="zh-CN" altLang="en-US" dirty="0">
                <a:latin typeface="+mn-ea"/>
              </a:rPr>
              <a:t>指令生成</a:t>
            </a:r>
            <a:r>
              <a:rPr lang="en-US" altLang="zh-CN" dirty="0">
                <a:latin typeface="+mn-ea"/>
              </a:rPr>
              <a:t>action</a:t>
            </a:r>
            <a:r>
              <a:rPr lang="zh-CN" altLang="en-US" dirty="0">
                <a:latin typeface="+mn-ea"/>
              </a:rPr>
              <a:t>的逻辑，抽取到</a:t>
            </a:r>
            <a:r>
              <a:rPr lang="en-US" altLang="zh-CN" dirty="0">
                <a:latin typeface="+mn-ea"/>
              </a:rPr>
              <a:t>State</a:t>
            </a:r>
            <a:r>
              <a:rPr lang="zh-CN" altLang="en-US" dirty="0">
                <a:latin typeface="+mn-ea"/>
              </a:rPr>
              <a:t>中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指令编排后统一执行功能代码实现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/>
              <a:t>代码完成后编译运行验证，上库</a:t>
            </a:r>
            <a:endParaRPr lang="en-US" altLang="zh-CN" sz="1800" dirty="0"/>
          </a:p>
        </p:txBody>
      </p:sp>
      <p:sp>
        <p:nvSpPr>
          <p:cNvPr id="8" name="圆角矩形 13">
            <a:extLst>
              <a:ext uri="{FF2B5EF4-FFF2-40B4-BE49-F238E27FC236}">
                <a16:creationId xmlns:a16="http://schemas.microsoft.com/office/drawing/2014/main" id="{D8003A42-991A-447F-B144-4CB97595CBC0}"/>
              </a:ext>
            </a:extLst>
          </p:cNvPr>
          <p:cNvSpPr/>
          <p:nvPr/>
        </p:nvSpPr>
        <p:spPr bwMode="auto">
          <a:xfrm>
            <a:off x="1251126" y="2449200"/>
            <a:ext cx="5730515" cy="2252338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419B98-919A-4F15-9DC9-B46912A8E3E1}"/>
              </a:ext>
            </a:extLst>
          </p:cNvPr>
          <p:cNvSpPr txBox="1"/>
          <p:nvPr/>
        </p:nvSpPr>
        <p:spPr>
          <a:xfrm>
            <a:off x="4988004" y="2717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状态指令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42CD53-E0B5-4B9D-8B2A-0B6EF76208F1}"/>
              </a:ext>
            </a:extLst>
          </p:cNvPr>
          <p:cNvSpPr txBox="1"/>
          <p:nvPr/>
        </p:nvSpPr>
        <p:spPr>
          <a:xfrm>
            <a:off x="5873645" y="35247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控制指令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6F6E44-BA74-4C31-941C-516DC46ED4A3}"/>
              </a:ext>
            </a:extLst>
          </p:cNvPr>
          <p:cNvSpPr txBox="1"/>
          <p:nvPr/>
        </p:nvSpPr>
        <p:spPr>
          <a:xfrm>
            <a:off x="7258756" y="3190142"/>
            <a:ext cx="4472135" cy="16664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cargo test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git </a:t>
            </a:r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add .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git </a:t>
            </a:r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commit -m </a:t>
            </a:r>
            <a:r>
              <a:rPr lang="en-US" altLang="zh-CN" sz="1600" dirty="0">
                <a:solidFill>
                  <a:srgbClr val="6A9955"/>
                </a:solidFill>
              </a:rPr>
              <a:t>‘</a:t>
            </a:r>
            <a:r>
              <a:rPr lang="en-US" altLang="zh-CN" sz="1600" dirty="0" err="1">
                <a:solidFill>
                  <a:srgbClr val="6A9955"/>
                </a:solidFill>
              </a:rPr>
              <a:t>extrac</a:t>
            </a:r>
            <a:r>
              <a:rPr lang="en-US" altLang="zh-CN" sz="1600" dirty="0">
                <a:solidFill>
                  <a:srgbClr val="6A9955"/>
                </a:solidFill>
              </a:rPr>
              <a:t> action, implemented a task orchestration framework'</a:t>
            </a:r>
            <a:endParaRPr lang="zh-CN" altLang="en-US" dirty="0">
              <a:solidFill>
                <a:srgbClr val="6A99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701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86A7D-7A38-48DE-B8B2-04B41FA4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685" y="332208"/>
            <a:ext cx="10728325" cy="532156"/>
          </a:xfrm>
        </p:spPr>
        <p:txBody>
          <a:bodyPr>
            <a:normAutofit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指令实现：课后完成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1C114C-4046-43AE-AAFA-2BF2C957F8E1}"/>
              </a:ext>
            </a:extLst>
          </p:cNvPr>
          <p:cNvSpPr txBox="1"/>
          <p:nvPr/>
        </p:nvSpPr>
        <p:spPr>
          <a:xfrm>
            <a:off x="516685" y="1094154"/>
            <a:ext cx="5958682" cy="1713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构建</a:t>
            </a:r>
            <a:r>
              <a:rPr lang="en-US" altLang="zh-CN" dirty="0">
                <a:latin typeface="+mn-ea"/>
              </a:rPr>
              <a:t>F</a:t>
            </a:r>
            <a:r>
              <a:rPr lang="zh-CN" altLang="en-US" dirty="0">
                <a:latin typeface="+mn-ea"/>
              </a:rPr>
              <a:t>指令测试用例（包括</a:t>
            </a:r>
            <a:r>
              <a:rPr lang="en-US" altLang="zh-CN" dirty="0">
                <a:latin typeface="+mn-ea"/>
              </a:rPr>
              <a:t>B&amp;F</a:t>
            </a:r>
            <a:r>
              <a:rPr lang="zh-CN" altLang="en-US" dirty="0">
                <a:latin typeface="+mn-ea"/>
              </a:rPr>
              <a:t>状态指令叠加场景） </a:t>
            </a:r>
            <a:r>
              <a:rPr lang="en-US" altLang="zh-CN" dirty="0">
                <a:latin typeface="+mn-ea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+mn-ea"/>
              </a:rPr>
              <a:t>Action</a:t>
            </a:r>
            <a:r>
              <a:rPr lang="zh-CN" altLang="en-US" dirty="0">
                <a:latin typeface="+mn-ea"/>
              </a:rPr>
              <a:t>支持</a:t>
            </a:r>
            <a:r>
              <a:rPr lang="en-US" altLang="zh-CN" dirty="0">
                <a:latin typeface="+mn-ea"/>
              </a:rPr>
              <a:t>F</a:t>
            </a:r>
            <a:r>
              <a:rPr lang="zh-CN" altLang="en-US" dirty="0">
                <a:latin typeface="+mn-ea"/>
              </a:rPr>
              <a:t>指令；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+mn-ea"/>
              </a:rPr>
              <a:t>State</a:t>
            </a:r>
            <a:r>
              <a:rPr lang="zh-CN" altLang="en-US" dirty="0">
                <a:latin typeface="+mn-ea"/>
              </a:rPr>
              <a:t>支持</a:t>
            </a:r>
            <a:r>
              <a:rPr lang="en-US" altLang="zh-CN" dirty="0">
                <a:latin typeface="+mn-ea"/>
              </a:rPr>
              <a:t>F</a:t>
            </a:r>
            <a:r>
              <a:rPr lang="zh-CN" altLang="en-US" dirty="0">
                <a:latin typeface="+mn-ea"/>
              </a:rPr>
              <a:t>指令；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+mn-ea"/>
              </a:rPr>
              <a:t>State</a:t>
            </a:r>
            <a:r>
              <a:rPr lang="zh-CN" altLang="en-US" dirty="0">
                <a:latin typeface="+mn-ea"/>
              </a:rPr>
              <a:t>各指令编排支持</a:t>
            </a:r>
            <a:r>
              <a:rPr lang="en-US" altLang="zh-CN" dirty="0">
                <a:latin typeface="+mn-ea"/>
              </a:rPr>
              <a:t>F</a:t>
            </a:r>
            <a:r>
              <a:rPr lang="zh-CN" altLang="en-US" dirty="0">
                <a:latin typeface="+mn-ea"/>
              </a:rPr>
              <a:t>状态指令。</a:t>
            </a:r>
          </a:p>
        </p:txBody>
      </p:sp>
    </p:spTree>
    <p:extLst>
      <p:ext uri="{BB962C8B-B14F-4D97-AF65-F5344CB8AC3E}">
        <p14:creationId xmlns:p14="http://schemas.microsoft.com/office/powerpoint/2010/main" val="31399784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B&amp;F</a:t>
            </a:r>
            <a:r>
              <a:rPr lang="zh-CN" altLang="en-US" dirty="0"/>
              <a:t>指令正交分解的测试用例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AF21525-0C9D-4A43-9524-CB1BA1A3A2A7}"/>
              </a:ext>
            </a:extLst>
          </p:cNvPr>
          <p:cNvGraphicFramePr>
            <a:graphicFrameLocks noGrp="1"/>
          </p:cNvGraphicFramePr>
          <p:nvPr/>
        </p:nvGraphicFramePr>
        <p:xfrm>
          <a:off x="698011" y="1174779"/>
          <a:ext cx="10529926" cy="45176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6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8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4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4988">
                  <a:extLst>
                    <a:ext uri="{9D8B030D-6E8A-4147-A177-3AD203B41FA5}">
                      <a16:colId xmlns:a16="http://schemas.microsoft.com/office/drawing/2014/main" val="1366715491"/>
                    </a:ext>
                  </a:extLst>
                </a:gridCol>
              </a:tblGrid>
              <a:tr h="8436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状态</a:t>
                      </a: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BF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BB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FF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54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M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endParaRPr lang="zh-CN" altLang="en-US" sz="22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FM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X+2</a:t>
                      </a:r>
                      <a:endParaRPr lang="zh-CN" altLang="en-US" sz="22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BFM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X-2</a:t>
                      </a:r>
                      <a:endParaRPr lang="zh-CN" altLang="en-US" sz="22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BBM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Y+1</a:t>
                      </a:r>
                      <a:endParaRPr lang="zh-CN" altLang="en-US" sz="22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FFM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Y+1</a:t>
                      </a:r>
                      <a:endParaRPr lang="zh-CN" altLang="en-US" sz="22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43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BL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endParaRPr lang="zh-CN" altLang="en-US" sz="22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BFL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endParaRPr lang="zh-CN" altLang="en-US" sz="22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NA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NA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42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BR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endParaRPr lang="zh-CN" altLang="en-US" sz="22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endParaRPr lang="zh-CN" altLang="en-US" sz="22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BFR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endParaRPr lang="zh-CN" altLang="en-US" sz="22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NA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NA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DDA086F-AA88-4C90-99D7-0435EE7BD091}"/>
              </a:ext>
            </a:extLst>
          </p:cNvPr>
          <p:cNvCxnSpPr>
            <a:cxnSpLocks/>
          </p:cNvCxnSpPr>
          <p:nvPr/>
        </p:nvCxnSpPr>
        <p:spPr>
          <a:xfrm>
            <a:off x="698012" y="1174779"/>
            <a:ext cx="1426788" cy="817516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926C366-E923-4594-803D-B480567608A0}"/>
              </a:ext>
            </a:extLst>
          </p:cNvPr>
          <p:cNvSpPr txBox="1"/>
          <p:nvPr/>
        </p:nvSpPr>
        <p:spPr>
          <a:xfrm>
            <a:off x="782259" y="1623091"/>
            <a:ext cx="979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</p:spTree>
    <p:extLst>
      <p:ext uri="{BB962C8B-B14F-4D97-AF65-F5344CB8AC3E}">
        <p14:creationId xmlns:p14="http://schemas.microsoft.com/office/powerpoint/2010/main" val="26532686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CAE2B52-B6A4-4560-BC0A-1F7AA7010D0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latin typeface="+mn-ea"/>
                <a:ea typeface="+mn-ea"/>
              </a:rPr>
              <a:t>原子层抽象：</a:t>
            </a: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+mn-ea"/>
                <a:ea typeface="+mn-ea"/>
              </a:rPr>
              <a:t>自顶向下设计：将复杂的掉头指令操作逐层分解为更小、更简单的原子指令</a:t>
            </a: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+mn-ea"/>
                <a:ea typeface="+mn-ea"/>
              </a:rPr>
              <a:t>单一职责原则：每个原子指令只负责一个独立的功能，确保了指令功能独立且可复用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+mn-ea"/>
                <a:ea typeface="+mn-ea"/>
              </a:rPr>
              <a:t>任务编排：</a:t>
            </a: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+mn-ea"/>
                <a:ea typeface="+mn-ea"/>
              </a:rPr>
              <a:t>将复杂的指令处理转换为原子指令的编排。例如，</a:t>
            </a:r>
            <a:r>
              <a:rPr lang="en-US" altLang="zh-CN" sz="1600" dirty="0">
                <a:latin typeface="+mn-ea"/>
                <a:ea typeface="+mn-ea"/>
              </a:rPr>
              <a:t>L</a:t>
            </a:r>
            <a:r>
              <a:rPr lang="zh-CN" altLang="en-US" sz="1600" dirty="0">
                <a:latin typeface="+mn-ea"/>
                <a:ea typeface="+mn-ea"/>
              </a:rPr>
              <a:t>操作在</a:t>
            </a:r>
            <a:r>
              <a:rPr lang="en-US" altLang="zh-CN" sz="1600" dirty="0">
                <a:latin typeface="+mn-ea"/>
                <a:ea typeface="+mn-ea"/>
              </a:rPr>
              <a:t>F</a:t>
            </a:r>
            <a:r>
              <a:rPr lang="zh-CN" altLang="en-US" sz="1600" dirty="0">
                <a:latin typeface="+mn-ea"/>
                <a:ea typeface="+mn-ea"/>
              </a:rPr>
              <a:t>状态下可以通过组合前进、左转等原子指令来实现</a:t>
            </a: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+mn-ea"/>
                <a:ea typeface="+mn-ea"/>
              </a:rPr>
              <a:t>通过不同的原子指令组合，可以实现各种复杂的功能需求，如在不同状态下执行不同的掉头步骤</a:t>
            </a:r>
            <a:endParaRPr lang="en-US" altLang="zh-CN" dirty="0"/>
          </a:p>
          <a:p>
            <a:r>
              <a:rPr lang="zh-CN" altLang="en-US" sz="1800" dirty="0">
                <a:latin typeface="+mn-ea"/>
                <a:ea typeface="+mn-ea"/>
              </a:rPr>
              <a:t>多维因子下的正交分解：</a:t>
            </a:r>
            <a:endParaRPr lang="en-US" altLang="zh-CN" sz="1800" dirty="0">
              <a:latin typeface="+mn-ea"/>
              <a:ea typeface="+mn-ea"/>
            </a:endParaRPr>
          </a:p>
          <a:p>
            <a:pPr lvl="1"/>
            <a:r>
              <a:rPr lang="zh-CN" altLang="en-US" sz="1600" dirty="0">
                <a:latin typeface="+mn-ea"/>
                <a:ea typeface="+mn-ea"/>
              </a:rPr>
              <a:t>解析多维降维分析方法，展示如何将高维问题简化为低维问题</a:t>
            </a:r>
            <a:endParaRPr lang="en-US" altLang="zh-CN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514062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51865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通过本课程的学习：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模块化编程：</a:t>
            </a: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学习将一个模块按照功能划分出若干子模块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任务编排：</a:t>
            </a: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将复杂问题分解为原子操作，通过任务编排层实现模块化，提升代码的扩展性和灵活性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这些技能和知识将为您在未来的企业软件开发中打下坚实的基础，帮助您成为一名更加专业和高效的软件开发者。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感谢您参与本课程，期待您在未来的软件开发工作中取得更大的成就！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新功能扩展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模块化编程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任务编排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课后作业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372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在线参考资料网站</a:t>
            </a:r>
            <a:endParaRPr lang="en-US" altLang="zh-CN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丰富的示例代码：可以帮助理解如何使用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Rust</a:t>
            </a: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特性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网址：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https://rustwiki.org/</a:t>
            </a:r>
            <a:endParaRPr lang="zh-CN" altLang="en-US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1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功能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10778</TotalTime>
  <Words>10903</Words>
  <Application>Microsoft Office PowerPoint</Application>
  <PresentationFormat>宽屏</PresentationFormat>
  <Paragraphs>860</Paragraphs>
  <Slides>43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Consolas</vt:lpstr>
      <vt:lpstr>Wingdings</vt:lpstr>
      <vt:lpstr>方正兰亭黑简体</vt:lpstr>
      <vt:lpstr>Huawei Sans</vt:lpstr>
      <vt:lpstr>Arial</vt:lpstr>
      <vt:lpstr>微软雅黑</vt:lpstr>
      <vt:lpstr>1_标题页模板</vt:lpstr>
      <vt:lpstr>2_功能页模板</vt:lpstr>
      <vt:lpstr>3_内容页模板</vt:lpstr>
      <vt:lpstr>4_感谢页模板</vt:lpstr>
      <vt:lpstr>Rust企业软件开发实践</vt:lpstr>
      <vt:lpstr>PowerPoint 演示文稿</vt:lpstr>
      <vt:lpstr>PowerPoint 演示文稿</vt:lpstr>
      <vt:lpstr>实验1回顾：左转指令测试用例设计</vt:lpstr>
      <vt:lpstr>实验1回顾：右转指令测试用例设计</vt:lpstr>
      <vt:lpstr>实验1回顾：功能代码实现</vt:lpstr>
      <vt:lpstr>PowerPoint 演示文稿</vt:lpstr>
      <vt:lpstr>课程实训需求2-1 支持倒车指令</vt:lpstr>
      <vt:lpstr>B指令功能代码实现示例，代码可能如下</vt:lpstr>
      <vt:lpstr>PowerPoint 演示文稿</vt:lpstr>
      <vt:lpstr>模块化编程-代码分析及优化思路</vt:lpstr>
      <vt:lpstr>移动指令行为抽取为forward方法</vt:lpstr>
      <vt:lpstr>操作分离：操作封装到Pose</vt:lpstr>
      <vt:lpstr>操作分离： pose模块声明&amp;Executor修改</vt:lpstr>
      <vt:lpstr>操作分离到Pose后，B指令的实现步骤</vt:lpstr>
      <vt:lpstr>B指令用例设计</vt:lpstr>
      <vt:lpstr>B指令用例设计：B状态下执行移动指令</vt:lpstr>
      <vt:lpstr>B指令用例设计：B状态下执行转向指令</vt:lpstr>
      <vt:lpstr>B指令用例设计：再一次收到B指令，状态取消</vt:lpstr>
      <vt:lpstr>B指令用例设计：编译运行验证，确保用例有效</vt:lpstr>
      <vt:lpstr>B指令功能代码实现：创建B指令的处理逻辑State</vt:lpstr>
      <vt:lpstr>B指令功能代码实现：MLR指令支持B指令状态</vt:lpstr>
      <vt:lpstr>B指令功能代码实现：forward支持后退操作</vt:lpstr>
      <vt:lpstr>B指令功能代码实现： Executor添加B指令状态保存</vt:lpstr>
      <vt:lpstr>B指令功能代码实现：MLR指令支持B状态指令</vt:lpstr>
      <vt:lpstr>练习时间，完成B指令功能代码编写</vt:lpstr>
      <vt:lpstr>PowerPoint 演示文稿</vt:lpstr>
      <vt:lpstr>课程实训需求2-2 支持加速指令</vt:lpstr>
      <vt:lpstr>F指令对指令处理结构的扩展性诉求分析</vt:lpstr>
      <vt:lpstr>解决方案：任务编排</vt:lpstr>
      <vt:lpstr>原子指令抽象：识别基本操作</vt:lpstr>
      <vt:lpstr>任务编排：总体设计描述</vt:lpstr>
      <vt:lpstr>任务编排实现方案步骤</vt:lpstr>
      <vt:lpstr>任务编排：原子指令Action定义</vt:lpstr>
      <vt:lpstr>任务编排：State实现原子指令序列生成</vt:lpstr>
      <vt:lpstr>任务编排：指令编排后统一执行</vt:lpstr>
      <vt:lpstr>F指令实现：课后完成</vt:lpstr>
      <vt:lpstr>B&amp;F指令正交分解的测试用例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Rust企业软件开发实践</dc:title>
  <dc:subject>实验2-模块化编程</dc:subject>
  <dc:creator>Lichunhua(ChunhuaLi,stfse)</dc:creator>
  <cp:keywords>Rust企业软件开发实践</cp:keywords>
  <cp:lastModifiedBy>Guo Jian</cp:lastModifiedBy>
  <cp:revision>776</cp:revision>
  <dcterms:created xsi:type="dcterms:W3CDTF">2024-07-19T02:54:12Z</dcterms:created>
  <dcterms:modified xsi:type="dcterms:W3CDTF">2026-04-22T03:34:39Z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(3)zop1EquJrx2cLbEQ55OH6ANrVYsndIExqpQVIn/tyDWwhtV9dwGtJRAePTIDRQ5VlsImYHyM
DegJXA+GTjtPYvEYP+l80wWj2Qd95yMeYLb19ZEMzx4vqVrFy/4WqQ27KYMFrj/TrHbjKPQV
RAOOkLoIqaAiM3EZpb8AUist2SPpYbw/JU7MPJBVeWsUmFv5dmLn+S1CBKnwrJGggl+S/ebK
9DoalHs+ExGIvsICae</vt:lpwstr>
  </property>
  <property fmtid="{D5CDD505-2E9C-101B-9397-08002B2CF9AE}" pid="3" name="_2015_ms_pID_7253431">
    <vt:lpwstr>V8pcYa+IzZKY3oLnadBFCrqxtulc8aApa+INi8zG9xeUt6nIU2aWs/
aUmFlqjj8JtZeHDLnZFwXVDOGwDHJIBbkbUccqovkst1VojlYokTnNH9VplS3Hpf6ZsoRPZP
hra6TpJRhWVNHK1QmSg3vi7IBb9cx9pt4ej9MaJZYzRrT2xboy1YUqGCSSOhp+w0kmtxXEGf
5E46D2R0E2dncmKvN0Qryh8zXyqKAneJ9Spd</vt:lpwstr>
  </property>
  <property fmtid="{D5CDD505-2E9C-101B-9397-08002B2CF9AE}" pid="4" name="_2015_ms_pID_7253432">
    <vt:lpwstr>Dw==</vt:lpwstr>
  </property>
  <property fmtid="{D5CDD505-2E9C-101B-9397-08002B2CF9AE}" pid="5" name="ICV">
    <vt:lpwstr/>
  </property>
  <property fmtid="{D5CDD505-2E9C-101B-9397-08002B2CF9AE}" pid="6" name="KSOProductBuildVer">
    <vt:lpwstr>2052-0.0.0.0</vt:lpwstr>
  </property>
  <property fmtid="{D5CDD505-2E9C-101B-9397-08002B2CF9AE}" pid="7" name="_readonly">
    <vt:lpwstr/>
  </property>
  <property fmtid="{D5CDD505-2E9C-101B-9397-08002B2CF9AE}" pid="8" name="_change">
    <vt:lpwstr/>
  </property>
  <property fmtid="{D5CDD505-2E9C-101B-9397-08002B2CF9AE}" pid="9" name="_full-control">
    <vt:lpwstr/>
  </property>
  <property fmtid="{D5CDD505-2E9C-101B-9397-08002B2CF9AE}" pid="10" name="sflag">
    <vt:lpwstr>1730269083</vt:lpwstr>
  </property>
</Properties>
</file>